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8669b9b9584ad5" /><Relationship Type="http://schemas.openxmlformats.org/officeDocument/2006/relationships/extended-properties" Target="/docProps/app.xml" Id="R5e7a6b268f334616" /><Relationship Type="http://schemas.openxmlformats.org/officeDocument/2006/relationships/officeDocument" Target="/ppt/presentation.xml" Id="R3cda9b25c5944f8a" /></Relationships>
</file>

<file path=ppt/presentation.xml><?xml version="1.0" encoding="utf-8"?>
<p:presentation xmlns:p="http://schemas.openxmlformats.org/presentationml/2006/main">
  <p:sldMasterIdLst>
    <p:sldMasterId xmlns:r="http://schemas.openxmlformats.org/officeDocument/2006/relationships" id="2147483648" r:id="Rcaceb701f0e942d9"/>
  </p:sldMasterIdLst>
  <p:notesMasterIdLst>
    <p:notesMasterId xmlns:r="http://schemas.openxmlformats.org/officeDocument/2006/relationships" r:id="Rec6af2d566644d0f"/>
  </p:notesMasterIdLst>
  <p:sldIdLst>
    <p:sldId xmlns:r="http://schemas.openxmlformats.org/officeDocument/2006/relationships" id="256" r:id="Rc1b1c85baa6e427a"/>
    <p:sldId xmlns:r="http://schemas.openxmlformats.org/officeDocument/2006/relationships" id="257" r:id="R6832fee552e54373"/>
    <p:sldId xmlns:r="http://schemas.openxmlformats.org/officeDocument/2006/relationships" id="258" r:id="Rfdbdf1862b624035"/>
    <p:sldId xmlns:r="http://schemas.openxmlformats.org/officeDocument/2006/relationships" id="259" r:id="R0cd4c6294a9746f3"/>
    <p:sldId xmlns:r="http://schemas.openxmlformats.org/officeDocument/2006/relationships" id="260" r:id="Rb43238868e9941f5"/>
    <p:sldId xmlns:r="http://schemas.openxmlformats.org/officeDocument/2006/relationships" id="261" r:id="R9628e638976e4d81"/>
    <p:sldId xmlns:r="http://schemas.openxmlformats.org/officeDocument/2006/relationships" id="262" r:id="Rdcdf1d9eecfe488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a33d0834164476" /><Relationship Type="http://schemas.openxmlformats.org/officeDocument/2006/relationships/slideMaster" Target="/ppt/slideMasters/slideMaster1.xml" Id="Rcaceb701f0e942d9" /><Relationship Type="http://schemas.openxmlformats.org/officeDocument/2006/relationships/notesMaster" Target="/ppt/notesMasters/notesMaster1.xml" Id="Rec6af2d566644d0f" /><Relationship Type="http://schemas.openxmlformats.org/officeDocument/2006/relationships/presProps" Target="/ppt/presProps.xml" Id="Re68207f8d4544547" /><Relationship Type="http://schemas.openxmlformats.org/officeDocument/2006/relationships/tableStyles" Target="/ppt/tableStyles.xml" Id="Rff88e9784e2743f7" /><Relationship Type="http://schemas.openxmlformats.org/officeDocument/2006/relationships/slide" Target="/ppt/slides/slide1.xml" Id="Rc1b1c85baa6e427a" /><Relationship Type="http://schemas.openxmlformats.org/officeDocument/2006/relationships/slide" Target="/ppt/slides/slide2.xml" Id="R6832fee552e54373" /><Relationship Type="http://schemas.openxmlformats.org/officeDocument/2006/relationships/slide" Target="/ppt/slides/slide3.xml" Id="Rfdbdf1862b624035" /><Relationship Type="http://schemas.openxmlformats.org/officeDocument/2006/relationships/slide" Target="/ppt/slides/slide4.xml" Id="R0cd4c6294a9746f3" /><Relationship Type="http://schemas.openxmlformats.org/officeDocument/2006/relationships/slide" Target="/ppt/slides/slide5.xml" Id="Rb43238868e9941f5" /><Relationship Type="http://schemas.openxmlformats.org/officeDocument/2006/relationships/slide" Target="/ppt/slides/slide6.xml" Id="R9628e638976e4d81" /><Relationship Type="http://schemas.openxmlformats.org/officeDocument/2006/relationships/slide" Target="/ppt/slides/slide7.xml" Id="Rdcdf1d9eecfe48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d6c2ee0a9543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02dbf631084626" /><Relationship Type="http://schemas.openxmlformats.org/officeDocument/2006/relationships/notesMaster" Target="/ppt/notesMasters/notesMaster1.xml" Id="R4d1c6a775fdb4d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7b8361f84b4a0d" /><Relationship Type="http://schemas.openxmlformats.org/officeDocument/2006/relationships/notesMaster" Target="/ppt/notesMasters/notesMaster1.xml" Id="R154a1a647cb146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f45dd9af514a49" /><Relationship Type="http://schemas.openxmlformats.org/officeDocument/2006/relationships/notesMaster" Target="/ppt/notesMasters/notesMaster1.xml" Id="R86fec4b4cd3542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74194110694d22" /><Relationship Type="http://schemas.openxmlformats.org/officeDocument/2006/relationships/notesMaster" Target="/ppt/notesMasters/notesMaster1.xml" Id="R489b50036e4941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4174b8346643cc" /><Relationship Type="http://schemas.openxmlformats.org/officeDocument/2006/relationships/notesMaster" Target="/ppt/notesMasters/notesMaster1.xml" Id="Rbff6e566512042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f0a9030fa84f45" /><Relationship Type="http://schemas.openxmlformats.org/officeDocument/2006/relationships/notesMaster" Target="/ppt/notesMasters/notesMaster1.xml" Id="Re62ffafd272e49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846008e6b141a3" /><Relationship Type="http://schemas.openxmlformats.org/officeDocument/2006/relationships/notesMaster" Target="/ppt/notesMasters/notesMaster1.xml" Id="Ra4c041e0cec844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reproduced the original five analogy attribution graphs and asked two questions: which features genuinely recur across prompts, and whether their layer-wise organization supports a three-phase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regenerated graphs use the published model, prompts, and pruning parameters, and their node and edge counts match the published summaries. The correction happens downstream. We count how many distinct graphs contain each SAE feature. Repeated activations at several token positions within one graph remain multiple contexts, but they contribute only one vote toward cross-prompt recurrence.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all-five core falls from 180 to 119 features, a 33.9 percent reduction. The at-least-four-of-five result falls from 277 to 210. Importantly, all five headline manuscript features genuinely survive in all five graphs. This preserves the interesting shared signal while giving it a more accurate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BIC is the Bayesian Information Criterion. It rewards a model for fitting the data and penalizes it for adding unnecessary complexity; lower is better. Among the one- through five-phase models, three phases have the lowest BIC, minus 74.4. Four and five phases improve some fit measures, but not enough to justify their extra boundaries and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data-selected phases begin at layers 7 and 15. Phase 1, layers 0 through 6, has many broadly recurring features and lower activation. Phase 2, layers 7 through 14, is sparser and has the highest average influence. Phase 3, layers 15 through 25, is sparse and has the highest median activation. We can use broad representation, selective transformation, and output consolidation as working descriptions, but the semantic names remain provisional.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1,000 prompt-bootstrap reruns, the first boundary lies at L7 in 782 runs and L8 in 218. The second boundary is most often L15, with uncertainty from L14 to L18. The result supports a three-part summary, while also showing that the later transition is less precisely located.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reproduced the original graphs, corrected the recurrence calculation, and retained a substantial shared circuit. BIC selects a three-phase organization: an early broad feature regime, a middle high-influence regime, and a late high-activation regime. The next step is to validate the boundaries on more prompts, blind the semantic annotation, and test each phase with matched causal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4ca43425b548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3533b3509149b7" /><Relationship Type="http://schemas.openxmlformats.org/officeDocument/2006/relationships/slideLayout" Target="/ppt/slideLayouts/slideLayout1.xml" Id="R20480c4e734041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480c4e734041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5930736a014fe4" /><Relationship Type="http://schemas.openxmlformats.org/officeDocument/2006/relationships/notesSlide" Target="/ppt/notesSlides/notesSlide1.xml" Id="R485c3bf03fa847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b77c45186f47e4" /><Relationship Type="http://schemas.openxmlformats.org/officeDocument/2006/relationships/notesSlide" Target="/ppt/notesSlides/notesSlide2.xml" Id="Rd2de06cf33104c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6f86f8ade84744" /><Relationship Type="http://schemas.openxmlformats.org/officeDocument/2006/relationships/image" Target="/ppt/media/image.png" Id="R48405ec20a8f4390" /><Relationship Type="http://schemas.openxmlformats.org/officeDocument/2006/relationships/notesSlide" Target="/ppt/notesSlides/notesSlide3.xml" Id="Rbe1c47a0d3f242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fd2096199044191" /><Relationship Type="http://schemas.openxmlformats.org/officeDocument/2006/relationships/notesSlide" Target="/ppt/notesSlides/notesSlide4.xml" Id="Red01fdc12f1f4e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b2d20c47134670" /><Relationship Type="http://schemas.openxmlformats.org/officeDocument/2006/relationships/notesSlide" Target="/ppt/notesSlides/notesSlide5.xml" Id="R2e45d8cbe4de4e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18556112e1444b" /><Relationship Type="http://schemas.openxmlformats.org/officeDocument/2006/relationships/image" Target="/ppt/media/image2.png" Id="Rbe29239f00bc477b" /><Relationship Type="http://schemas.openxmlformats.org/officeDocument/2006/relationships/notesSlide" Target="/ppt/notesSlides/notesSlide6.xml" Id="R87274fed5c7249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2b339671194d98" /><Relationship Type="http://schemas.openxmlformats.org/officeDocument/2006/relationships/notesSlide" Target="/ppt/notesSlides/notesSlide7.xml" Id="R6c4452abf33d42d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
            <a:extLst xmlns:a="http://schemas.openxmlformats.org/drawingml/2006/main">
              <a:ext uri="{FF2B5EF4-FFF2-40B4-BE49-F238E27FC236}">
                <a16:creationId xmlns:a16="http://schemas.microsoft.com/office/drawing/2014/main" id="{40DD6285-46A5-4116-864F-212576148E0F}"/>
              </a:ext>
            </a:extLst>
          </p:cNvPr>
          <p:cNvSpPr>
            <a:spLocks xmlns:a="http://schemas.openxmlformats.org/drawingml/2006/main" noGrp="1"/>
          </p:cNvSpPr>
          <p:nvPr/>
        </p:nvSpPr>
        <p:spPr>
          <a:xfrm xmlns:a="http://schemas.openxmlformats.org/drawingml/2006/main">
            <a:off x="457200" y="4000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ANALOGY CIRCUIT AUDIT</a:t>
            </a:r>
          </a:p>
        </p:txBody>
      </p:sp>
      <p:sp>
        <p:nvSpPr>
          <p:cNvPr id="2" name="cover-title">
            <a:extLst xmlns:a="http://schemas.openxmlformats.org/drawingml/2006/main">
              <a:ext uri="{FF2B5EF4-FFF2-40B4-BE49-F238E27FC236}">
                <a16:creationId xmlns:a16="http://schemas.microsoft.com/office/drawing/2014/main" id="{8AF4543C-070A-4E28-9003-82AB8B4326BF}"/>
              </a:ext>
            </a:extLst>
          </p:cNvPr>
          <p:cNvSpPr>
            <a:spLocks xmlns:a="http://schemas.openxmlformats.org/drawingml/2006/main" noGrp="1"/>
          </p:cNvSpPr>
          <p:nvPr/>
        </p:nvSpPr>
        <p:spPr>
          <a:xfrm xmlns:a="http://schemas.openxmlformats.org/drawingml/2006/main">
            <a:off x="457200" y="1562100"/>
            <a:ext cx="10287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defRPr sz="4950" b="1">
                <a:solidFill>
                  <a:srgbClr val="111827"/>
                </a:solidFill>
                <a:latin typeface="Arial"/>
                <a:ea typeface="Arial"/>
                <a:cs typeface="Arial"/>
              </a:defRPr>
            </a:pPr>
            <a:r>
              <a:rPr sz="4950" b="1">
                <a:solidFill>
                  <a:srgbClr val="111827"/>
                </a:solidFill>
                <a:latin typeface="Arial"/>
                <a:ea typeface="Arial"/>
                <a:cs typeface="Arial"/>
              </a:rPr>
              <a:t>The shared circuit survives a stricter recurrence test</a:t>
            </a:r>
          </a:p>
        </p:txBody>
      </p:sp>
      <p:sp>
        <p:nvSpPr>
          <p:cNvPr id="3" name="cover-subtitle">
            <a:extLst xmlns:a="http://schemas.openxmlformats.org/drawingml/2006/main">
              <a:ext uri="{FF2B5EF4-FFF2-40B4-BE49-F238E27FC236}">
                <a16:creationId xmlns:a16="http://schemas.microsoft.com/office/drawing/2014/main" id="{41C2F08E-F04E-4980-95A8-1842E90D3CA4}"/>
              </a:ext>
            </a:extLst>
          </p:cNvPr>
          <p:cNvSpPr>
            <a:spLocks xmlns:a="http://schemas.openxmlformats.org/drawingml/2006/main" noGrp="1"/>
          </p:cNvSpPr>
          <p:nvPr/>
        </p:nvSpPr>
        <p:spPr>
          <a:xfrm xmlns:a="http://schemas.openxmlformats.org/drawingml/2006/main">
            <a:off x="476250" y="4152900"/>
            <a:ext cx="8286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079"/>
                </a:solidFill>
                <a:latin typeface="Arial"/>
                <a:ea typeface="Arial"/>
                <a:cs typeface="Arial"/>
              </a:defRPr>
            </a:pPr>
            <a:r>
              <a:rPr sz="2250" b="0">
                <a:solidFill>
                  <a:srgbClr val="526079"/>
                </a:solidFill>
                <a:latin typeface="Arial"/>
                <a:ea typeface="Arial"/>
                <a:cs typeface="Arial"/>
              </a:rPr>
              <a:t>Corrected feature overlap and a BIC-selected three-phase model</a:t>
            </a:r>
          </a:p>
        </p:txBody>
      </p:sp>
      <p:sp>
        <p:nvSpPr>
          <p:cNvPr id="4" name="accent-rule">
            <a:extLst xmlns:a="http://schemas.openxmlformats.org/drawingml/2006/main">
              <a:ext uri="{FF2B5EF4-FFF2-40B4-BE49-F238E27FC236}">
                <a16:creationId xmlns:a16="http://schemas.microsoft.com/office/drawing/2014/main" id="{473FB43C-9E4E-40FE-8AAF-525481B5209D}"/>
              </a:ext>
            </a:extLst>
          </p:cNvPr>
          <p:cNvSpPr>
            <a:spLocks xmlns:a="http://schemas.openxmlformats.org/drawingml/2006/main" noGrp="1"/>
          </p:cNvSpPr>
          <p:nvPr/>
        </p:nvSpPr>
        <p:spPr>
          <a:xfrm xmlns:a="http://schemas.openxmlformats.org/drawingml/2006/main">
            <a:off x="457200" y="5200650"/>
            <a:ext cx="3429000" cy="6667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5" name="author-date">
            <a:extLst xmlns:a="http://schemas.openxmlformats.org/drawingml/2006/main">
              <a:ext uri="{FF2B5EF4-FFF2-40B4-BE49-F238E27FC236}">
                <a16:creationId xmlns:a16="http://schemas.microsoft.com/office/drawing/2014/main" id="{8171B42E-2C94-45DA-83CD-02857A1CD8D4}"/>
              </a:ext>
            </a:extLst>
          </p:cNvPr>
          <p:cNvSpPr>
            <a:spLocks xmlns:a="http://schemas.openxmlformats.org/drawingml/2006/main" noGrp="1"/>
          </p:cNvSpPr>
          <p:nvPr/>
        </p:nvSpPr>
        <p:spPr>
          <a:xfrm xmlns:a="http://schemas.openxmlformats.org/drawingml/2006/main">
            <a:off x="476250" y="56578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rial"/>
                <a:ea typeface="Arial"/>
                <a:cs typeface="Arial"/>
              </a:defRPr>
            </a:pPr>
            <a:r>
              <a:rPr sz="1500" b="0">
                <a:solidFill>
                  <a:srgbClr val="526079"/>
                </a:solidFill>
                <a:latin typeface="Arial"/>
                <a:ea typeface="Arial"/>
                <a:cs typeface="Arial"/>
              </a:rPr>
              <a:t>J-Lawrence10  |  July 2026</a:t>
            </a:r>
          </a:p>
        </p:txBody>
      </p:sp>
    </p:spTree>
    <p:extLst>
      <p:ext uri="{BB962C8B-B14F-4D97-AF65-F5344CB8AC3E}">
        <p14:creationId xmlns:p14="http://schemas.microsoft.com/office/powerpoint/2010/main" val="1593768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title">
            <a:extLst xmlns:a="http://schemas.openxmlformats.org/drawingml/2006/main">
              <a:ext uri="{FF2B5EF4-FFF2-40B4-BE49-F238E27FC236}">
                <a16:creationId xmlns:a16="http://schemas.microsoft.com/office/drawing/2014/main" id="{E29EB8CD-6A2A-4B1F-9863-1AECC9683F5B}"/>
              </a:ext>
            </a:extLst>
          </p:cNvPr>
          <p:cNvSpPr>
            <a:spLocks xmlns:a="http://schemas.openxmlformats.org/drawingml/2006/main" noGrp="1"/>
          </p:cNvSpPr>
          <p:nvPr/>
        </p:nvSpPr>
        <p:spPr>
          <a:xfrm xmlns:a="http://schemas.openxmlformats.org/drawingml/2006/main">
            <a:off x="457200" y="3238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We reproduced the graphs, then corrected the comparison</a:t>
            </a:r>
          </a:p>
        </p:txBody>
      </p:sp>
      <p:sp>
        <p:nvSpPr>
          <p:cNvPr id="2" name="slide-2-number">
            <a:extLst xmlns:a="http://schemas.openxmlformats.org/drawingml/2006/main">
              <a:ext uri="{FF2B5EF4-FFF2-40B4-BE49-F238E27FC236}">
                <a16:creationId xmlns:a16="http://schemas.microsoft.com/office/drawing/2014/main" id="{50ABFEA4-F7EA-46B4-BC67-C0922F9F41CC}"/>
              </a:ext>
            </a:extLst>
          </p:cNvPr>
          <p:cNvSpPr>
            <a:spLocks xmlns:a="http://schemas.openxmlformats.org/drawingml/2006/main" noGrp="1"/>
          </p:cNvSpPr>
          <p:nvPr/>
        </p:nvSpPr>
        <p:spPr>
          <a:xfrm xmlns:a="http://schemas.openxmlformats.org/drawingml/2006/main">
            <a:off x="11372850" y="63436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26079"/>
                </a:solidFill>
                <a:latin typeface="Arial"/>
                <a:ea typeface="Arial"/>
                <a:cs typeface="Arial"/>
              </a:defRPr>
            </a:pPr>
            <a:r>
              <a:rPr sz="1050" b="0">
                <a:solidFill>
                  <a:srgbClr val="526079"/>
                </a:solidFill>
                <a:latin typeface="Arial"/>
                <a:ea typeface="Arial"/>
                <a:cs typeface="Arial"/>
              </a:rPr>
              <a:t>2</a:t>
            </a:r>
          </a:p>
        </p:txBody>
      </p:sp>
      <p:sp>
        <p:nvSpPr>
          <p:cNvPr id="3" name="method-1">
            <a:extLst xmlns:a="http://schemas.openxmlformats.org/drawingml/2006/main">
              <a:ext uri="{FF2B5EF4-FFF2-40B4-BE49-F238E27FC236}">
                <a16:creationId xmlns:a16="http://schemas.microsoft.com/office/drawing/2014/main" id="{BCD2A4F4-EAF6-4B12-BC53-D04F4895A776}"/>
              </a:ext>
            </a:extLst>
          </p:cNvPr>
          <p:cNvSpPr>
            <a:spLocks xmlns:a="http://schemas.openxmlformats.org/drawingml/2006/main" noGrp="1"/>
          </p:cNvSpPr>
          <p:nvPr/>
        </p:nvSpPr>
        <p:spPr>
          <a:xfrm xmlns:a="http://schemas.openxmlformats.org/drawingml/2006/main">
            <a:off x="457200" y="1371600"/>
            <a:ext cx="3581400" cy="4267200"/>
          </a:xfrm>
          <a:prstGeom xmlns:a="http://schemas.openxmlformats.org/drawingml/2006/main" prst="roundRect">
            <a:avLst>
              <a:gd name="adj" fmla="val 3191"/>
            </a:avLst>
          </a:prstGeom>
          <a:solidFill xmlns:a="http://schemas.openxmlformats.org/drawingml/2006/main">
            <a:srgbClr val="F2F4F7"/>
          </a:solidFill>
          <a:ln xmlns:a="http://schemas.openxmlformats.org/drawingml/2006/main" w="0">
            <a:noFill/>
            <a:prstDash val="solid"/>
          </a:ln>
        </p:spPr>
      </p:sp>
      <p:sp>
        <p:nvSpPr>
          <p:cNvPr id="4" name="method-number-1">
            <a:extLst xmlns:a="http://schemas.openxmlformats.org/drawingml/2006/main">
              <a:ext uri="{FF2B5EF4-FFF2-40B4-BE49-F238E27FC236}">
                <a16:creationId xmlns:a16="http://schemas.microsoft.com/office/drawing/2014/main" id="{129896A4-6EB0-4C5E-86DA-E96FF47774E6}"/>
              </a:ext>
            </a:extLst>
          </p:cNvPr>
          <p:cNvSpPr>
            <a:spLocks xmlns:a="http://schemas.openxmlformats.org/drawingml/2006/main" noGrp="1"/>
          </p:cNvSpPr>
          <p:nvPr/>
        </p:nvSpPr>
        <p:spPr>
          <a:xfrm xmlns:a="http://schemas.openxmlformats.org/drawingml/2006/main">
            <a:off x="723900" y="1619250"/>
            <a:ext cx="685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2563EB"/>
                </a:solidFill>
                <a:latin typeface="Arial"/>
                <a:ea typeface="Arial"/>
                <a:cs typeface="Arial"/>
              </a:defRPr>
            </a:pPr>
            <a:r>
              <a:rPr sz="3600" b="1">
                <a:solidFill>
                  <a:srgbClr val="2563EB"/>
                </a:solidFill>
                <a:latin typeface="Arial"/>
                <a:ea typeface="Arial"/>
                <a:cs typeface="Arial"/>
              </a:rPr>
              <a:t>1</a:t>
            </a:r>
          </a:p>
        </p:txBody>
      </p:sp>
      <p:sp>
        <p:nvSpPr>
          <p:cNvPr id="5" name="method-title-1">
            <a:extLst xmlns:a="http://schemas.openxmlformats.org/drawingml/2006/main">
              <a:ext uri="{FF2B5EF4-FFF2-40B4-BE49-F238E27FC236}">
                <a16:creationId xmlns:a16="http://schemas.microsoft.com/office/drawing/2014/main" id="{E0BC5A0C-F67E-48C4-A72A-7DD12AA66C33}"/>
              </a:ext>
            </a:extLst>
          </p:cNvPr>
          <p:cNvSpPr>
            <a:spLocks xmlns:a="http://schemas.openxmlformats.org/drawingml/2006/main" noGrp="1"/>
          </p:cNvSpPr>
          <p:nvPr/>
        </p:nvSpPr>
        <p:spPr>
          <a:xfrm xmlns:a="http://schemas.openxmlformats.org/drawingml/2006/main">
            <a:off x="723900" y="2438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1827"/>
                </a:solidFill>
                <a:latin typeface="Arial"/>
                <a:ea typeface="Arial"/>
                <a:cs typeface="Arial"/>
              </a:defRPr>
            </a:pPr>
            <a:r>
              <a:rPr sz="2100" b="1">
                <a:solidFill>
                  <a:srgbClr val="111827"/>
                </a:solidFill>
                <a:latin typeface="Arial"/>
                <a:ea typeface="Arial"/>
                <a:cs typeface="Arial"/>
              </a:rPr>
              <a:t>Reproduce</a:t>
            </a:r>
          </a:p>
        </p:txBody>
      </p:sp>
      <p:sp>
        <p:nvSpPr>
          <p:cNvPr id="6" name="method-body-1">
            <a:extLst xmlns:a="http://schemas.openxmlformats.org/drawingml/2006/main">
              <a:ext uri="{FF2B5EF4-FFF2-40B4-BE49-F238E27FC236}">
                <a16:creationId xmlns:a16="http://schemas.microsoft.com/office/drawing/2014/main" id="{1F341790-DAF4-44F5-9C8C-9E480D3037B7}"/>
              </a:ext>
            </a:extLst>
          </p:cNvPr>
          <p:cNvSpPr>
            <a:spLocks xmlns:a="http://schemas.openxmlformats.org/drawingml/2006/main" noGrp="1"/>
          </p:cNvSpPr>
          <p:nvPr/>
        </p:nvSpPr>
        <p:spPr>
          <a:xfrm xmlns:a="http://schemas.openxmlformats.org/drawingml/2006/main">
            <a:off x="723900" y="3143250"/>
            <a:ext cx="297180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Same five prompts</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Same Gemma 2 2B model</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Same pruning parameters</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Published graph sizes matched</a:t>
            </a:r>
          </a:p>
        </p:txBody>
      </p:sp>
      <p:sp>
        <p:nvSpPr>
          <p:cNvPr id="7" name="method-2">
            <a:extLst xmlns:a="http://schemas.openxmlformats.org/drawingml/2006/main">
              <a:ext uri="{FF2B5EF4-FFF2-40B4-BE49-F238E27FC236}">
                <a16:creationId xmlns:a16="http://schemas.microsoft.com/office/drawing/2014/main" id="{B7EB0EA7-2F5E-46BD-B069-F04DBCABA57B}"/>
              </a:ext>
            </a:extLst>
          </p:cNvPr>
          <p:cNvSpPr>
            <a:spLocks xmlns:a="http://schemas.openxmlformats.org/drawingml/2006/main" noGrp="1"/>
          </p:cNvSpPr>
          <p:nvPr/>
        </p:nvSpPr>
        <p:spPr>
          <a:xfrm xmlns:a="http://schemas.openxmlformats.org/drawingml/2006/main">
            <a:off x="4305300" y="1371600"/>
            <a:ext cx="3581400" cy="4267200"/>
          </a:xfrm>
          <a:prstGeom xmlns:a="http://schemas.openxmlformats.org/drawingml/2006/main" prst="roundRect">
            <a:avLst>
              <a:gd name="adj" fmla="val 3191"/>
            </a:avLst>
          </a:prstGeom>
          <a:solidFill xmlns:a="http://schemas.openxmlformats.org/drawingml/2006/main">
            <a:srgbClr val="EAF1FF"/>
          </a:solidFill>
          <a:ln xmlns:a="http://schemas.openxmlformats.org/drawingml/2006/main" w="0">
            <a:noFill/>
            <a:prstDash val="solid"/>
          </a:ln>
        </p:spPr>
      </p:sp>
      <p:sp>
        <p:nvSpPr>
          <p:cNvPr id="8" name="method-number-2">
            <a:extLst xmlns:a="http://schemas.openxmlformats.org/drawingml/2006/main">
              <a:ext uri="{FF2B5EF4-FFF2-40B4-BE49-F238E27FC236}">
                <a16:creationId xmlns:a16="http://schemas.microsoft.com/office/drawing/2014/main" id="{0F92EF25-A69E-406E-8D6F-C824292835C0}"/>
              </a:ext>
            </a:extLst>
          </p:cNvPr>
          <p:cNvSpPr>
            <a:spLocks xmlns:a="http://schemas.openxmlformats.org/drawingml/2006/main" noGrp="1"/>
          </p:cNvSpPr>
          <p:nvPr/>
        </p:nvSpPr>
        <p:spPr>
          <a:xfrm xmlns:a="http://schemas.openxmlformats.org/drawingml/2006/main">
            <a:off x="4572000" y="1619250"/>
            <a:ext cx="685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2563EB"/>
                </a:solidFill>
                <a:latin typeface="Arial"/>
                <a:ea typeface="Arial"/>
                <a:cs typeface="Arial"/>
              </a:defRPr>
            </a:pPr>
            <a:r>
              <a:rPr sz="3600" b="1">
                <a:solidFill>
                  <a:srgbClr val="2563EB"/>
                </a:solidFill>
                <a:latin typeface="Arial"/>
                <a:ea typeface="Arial"/>
                <a:cs typeface="Arial"/>
              </a:rPr>
              <a:t>2</a:t>
            </a:r>
          </a:p>
        </p:txBody>
      </p:sp>
      <p:sp>
        <p:nvSpPr>
          <p:cNvPr id="9" name="method-title-2">
            <a:extLst xmlns:a="http://schemas.openxmlformats.org/drawingml/2006/main">
              <a:ext uri="{FF2B5EF4-FFF2-40B4-BE49-F238E27FC236}">
                <a16:creationId xmlns:a16="http://schemas.microsoft.com/office/drawing/2014/main" id="{359DF092-3DAD-437A-9825-A9BEFCDB545D}"/>
              </a:ext>
            </a:extLst>
          </p:cNvPr>
          <p:cNvSpPr>
            <a:spLocks xmlns:a="http://schemas.openxmlformats.org/drawingml/2006/main" noGrp="1"/>
          </p:cNvSpPr>
          <p:nvPr/>
        </p:nvSpPr>
        <p:spPr>
          <a:xfrm xmlns:a="http://schemas.openxmlformats.org/drawingml/2006/main">
            <a:off x="4572000" y="2438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1827"/>
                </a:solidFill>
                <a:latin typeface="Arial"/>
                <a:ea typeface="Arial"/>
                <a:cs typeface="Arial"/>
              </a:defRPr>
            </a:pPr>
            <a:r>
              <a:rPr sz="2100" b="1">
                <a:solidFill>
                  <a:srgbClr val="111827"/>
                </a:solidFill>
                <a:latin typeface="Arial"/>
                <a:ea typeface="Arial"/>
                <a:cs typeface="Arial"/>
              </a:rPr>
              <a:t>Count correctly</a:t>
            </a:r>
          </a:p>
        </p:txBody>
      </p:sp>
      <p:sp>
        <p:nvSpPr>
          <p:cNvPr id="10" name="method-body-2">
            <a:extLst xmlns:a="http://schemas.openxmlformats.org/drawingml/2006/main">
              <a:ext uri="{FF2B5EF4-FFF2-40B4-BE49-F238E27FC236}">
                <a16:creationId xmlns:a16="http://schemas.microsoft.com/office/drawing/2014/main" id="{B641E5C3-9CFA-4789-85C9-48E10A9CB358}"/>
              </a:ext>
            </a:extLst>
          </p:cNvPr>
          <p:cNvSpPr>
            <a:spLocks xmlns:a="http://schemas.openxmlformats.org/drawingml/2006/main" noGrp="1"/>
          </p:cNvSpPr>
          <p:nvPr/>
        </p:nvSpPr>
        <p:spPr>
          <a:xfrm xmlns:a="http://schemas.openxmlformats.org/drawingml/2006/main">
            <a:off x="4572000" y="3143250"/>
            <a:ext cx="297180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Identity = layer + SAE index</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Collect unique graph IDs</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Repeated token positions remain one cross-prompt vote</a:t>
            </a:r>
          </a:p>
        </p:txBody>
      </p:sp>
      <p:sp>
        <p:nvSpPr>
          <p:cNvPr id="11" name="method-3">
            <a:extLst xmlns:a="http://schemas.openxmlformats.org/drawingml/2006/main">
              <a:ext uri="{FF2B5EF4-FFF2-40B4-BE49-F238E27FC236}">
                <a16:creationId xmlns:a16="http://schemas.microsoft.com/office/drawing/2014/main" id="{7D6B7F9D-8C3C-45A7-A5AB-7317188FA397}"/>
              </a:ext>
            </a:extLst>
          </p:cNvPr>
          <p:cNvSpPr>
            <a:spLocks xmlns:a="http://schemas.openxmlformats.org/drawingml/2006/main" noGrp="1"/>
          </p:cNvSpPr>
          <p:nvPr/>
        </p:nvSpPr>
        <p:spPr>
          <a:xfrm xmlns:a="http://schemas.openxmlformats.org/drawingml/2006/main">
            <a:off x="8153400" y="1371600"/>
            <a:ext cx="3581400" cy="4267200"/>
          </a:xfrm>
          <a:prstGeom xmlns:a="http://schemas.openxmlformats.org/drawingml/2006/main" prst="roundRect">
            <a:avLst>
              <a:gd name="adj" fmla="val 3191"/>
            </a:avLst>
          </a:prstGeom>
          <a:solidFill xmlns:a="http://schemas.openxmlformats.org/drawingml/2006/main">
            <a:srgbClr val="F2F4F7"/>
          </a:solidFill>
          <a:ln xmlns:a="http://schemas.openxmlformats.org/drawingml/2006/main" w="0">
            <a:noFill/>
            <a:prstDash val="solid"/>
          </a:ln>
        </p:spPr>
      </p:sp>
      <p:sp>
        <p:nvSpPr>
          <p:cNvPr id="12" name="method-number-3">
            <a:extLst xmlns:a="http://schemas.openxmlformats.org/drawingml/2006/main">
              <a:ext uri="{FF2B5EF4-FFF2-40B4-BE49-F238E27FC236}">
                <a16:creationId xmlns:a16="http://schemas.microsoft.com/office/drawing/2014/main" id="{C26D3CD5-6FEF-4839-9099-607503A6F82C}"/>
              </a:ext>
            </a:extLst>
          </p:cNvPr>
          <p:cNvSpPr>
            <a:spLocks xmlns:a="http://schemas.openxmlformats.org/drawingml/2006/main" noGrp="1"/>
          </p:cNvSpPr>
          <p:nvPr/>
        </p:nvSpPr>
        <p:spPr>
          <a:xfrm xmlns:a="http://schemas.openxmlformats.org/drawingml/2006/main">
            <a:off x="8420100" y="1619250"/>
            <a:ext cx="685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600" b="1">
                <a:solidFill>
                  <a:srgbClr val="2563EB"/>
                </a:solidFill>
                <a:latin typeface="Arial"/>
                <a:ea typeface="Arial"/>
                <a:cs typeface="Arial"/>
              </a:defRPr>
            </a:pPr>
            <a:r>
              <a:rPr sz="3600" b="1">
                <a:solidFill>
                  <a:srgbClr val="2563EB"/>
                </a:solidFill>
                <a:latin typeface="Arial"/>
                <a:ea typeface="Arial"/>
                <a:cs typeface="Arial"/>
              </a:rPr>
              <a:t>3</a:t>
            </a:r>
          </a:p>
        </p:txBody>
      </p:sp>
      <p:sp>
        <p:nvSpPr>
          <p:cNvPr id="13" name="method-title-3">
            <a:extLst xmlns:a="http://schemas.openxmlformats.org/drawingml/2006/main">
              <a:ext uri="{FF2B5EF4-FFF2-40B4-BE49-F238E27FC236}">
                <a16:creationId xmlns:a16="http://schemas.microsoft.com/office/drawing/2014/main" id="{F08B5EA5-5FA0-4A06-BC82-F4C7DF190D51}"/>
              </a:ext>
            </a:extLst>
          </p:cNvPr>
          <p:cNvSpPr>
            <a:spLocks xmlns:a="http://schemas.openxmlformats.org/drawingml/2006/main" noGrp="1"/>
          </p:cNvSpPr>
          <p:nvPr/>
        </p:nvSpPr>
        <p:spPr>
          <a:xfrm xmlns:a="http://schemas.openxmlformats.org/drawingml/2006/main">
            <a:off x="8420100" y="2438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11827"/>
                </a:solidFill>
                <a:latin typeface="Arial"/>
                <a:ea typeface="Arial"/>
                <a:cs typeface="Arial"/>
              </a:defRPr>
            </a:pPr>
            <a:r>
              <a:rPr sz="2100" b="1">
                <a:solidFill>
                  <a:srgbClr val="111827"/>
                </a:solidFill>
                <a:latin typeface="Arial"/>
                <a:ea typeface="Arial"/>
                <a:cs typeface="Arial"/>
              </a:rPr>
              <a:t>Select phases</a:t>
            </a:r>
          </a:p>
        </p:txBody>
      </p:sp>
      <p:sp>
        <p:nvSpPr>
          <p:cNvPr id="14" name="method-body-3">
            <a:extLst xmlns:a="http://schemas.openxmlformats.org/drawingml/2006/main">
              <a:ext uri="{FF2B5EF4-FFF2-40B4-BE49-F238E27FC236}">
                <a16:creationId xmlns:a16="http://schemas.microsoft.com/office/drawing/2014/main" id="{4683EAB3-69EA-4B34-BCE2-9278B0E9507A}"/>
              </a:ext>
            </a:extLst>
          </p:cNvPr>
          <p:cNvSpPr>
            <a:spLocks xmlns:a="http://schemas.openxmlformats.org/drawingml/2006/main" noGrp="1"/>
          </p:cNvSpPr>
          <p:nvPr/>
        </p:nvSpPr>
        <p:spPr>
          <a:xfrm xmlns:a="http://schemas.openxmlformats.org/drawingml/2006/main">
            <a:off x="8420100" y="3143250"/>
            <a:ext cx="2971800" cy="205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Four layer-wise graph metrics</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Exact 1–5 segment fits</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BIC complexity penalty</a:t>
            </a:r>
          </a:p>
          <a:p xmlns:a="http://schemas.openxmlformats.org/drawingml/2006/main">
            <a:pPr algn="l">
              <a:defRPr sz="1575" b="0">
                <a:solidFill>
                  <a:srgbClr val="526079"/>
                </a:solidFill>
                <a:latin typeface="Arial"/>
                <a:ea typeface="Arial"/>
                <a:cs typeface="Arial"/>
              </a:defRPr>
            </a:pPr>
            <a:r>
              <a:rPr sz="1575" b="0">
                <a:solidFill>
                  <a:srgbClr val="526079"/>
                </a:solidFill>
                <a:latin typeface="Arial"/>
                <a:ea typeface="Arial"/>
                <a:cs typeface="Arial"/>
              </a:rPr>
              <a:t>1,000 bootstrap reruns</a:t>
            </a:r>
          </a:p>
        </p:txBody>
      </p:sp>
      <p:sp>
        <p:nvSpPr>
          <p:cNvPr id="15" name="source">
            <a:extLst xmlns:a="http://schemas.openxmlformats.org/drawingml/2006/main">
              <a:ext uri="{FF2B5EF4-FFF2-40B4-BE49-F238E27FC236}">
                <a16:creationId xmlns:a16="http://schemas.microsoft.com/office/drawing/2014/main" id="{35610A7D-67F4-4857-9197-90A48DDB07F3}"/>
              </a:ext>
            </a:extLst>
          </p:cNvPr>
          <p:cNvSpPr>
            <a:spLocks xmlns:a="http://schemas.openxmlformats.org/drawingml/2006/main" noGrp="1"/>
          </p:cNvSpPr>
          <p:nvPr/>
        </p:nvSpPr>
        <p:spPr>
          <a:xfrm xmlns:a="http://schemas.openxmlformats.org/drawingml/2006/main">
            <a:off x="457200" y="63436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26079"/>
                </a:solidFill>
                <a:latin typeface="Arial"/>
                <a:ea typeface="Arial"/>
                <a:cs typeface="Arial"/>
              </a:defRPr>
            </a:pPr>
            <a:r>
              <a:rPr sz="975" b="0">
                <a:solidFill>
                  <a:srgbClr val="526079"/>
                </a:solidFill>
                <a:latin typeface="Arial"/>
                <a:ea typeface="Arial"/>
                <a:cs typeface="Arial"/>
              </a:rPr>
              <a:t>Source: regenerated Neuronpedia attribution graphs and audit scripts</a:t>
            </a:r>
          </a:p>
        </p:txBody>
      </p:sp>
    </p:spTree>
    <p:extLst>
      <p:ext uri="{BB962C8B-B14F-4D97-AF65-F5344CB8AC3E}">
        <p14:creationId xmlns:p14="http://schemas.microsoft.com/office/powerpoint/2010/main" val="12976040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verlap-figure-backing">
            <a:extLst xmlns:a="http://schemas.openxmlformats.org/drawingml/2006/main">
              <a:ext uri="{FF2B5EF4-FFF2-40B4-BE49-F238E27FC236}">
                <a16:creationId xmlns:a16="http://schemas.microsoft.com/office/drawing/2014/main" id="{B74F87EA-B7AC-454B-8D55-740E09D986C6}"/>
              </a:ext>
            </a:extLst>
          </p:cNvPr>
          <p:cNvSpPr>
            <a:spLocks xmlns:a="http://schemas.openxmlformats.org/drawingml/2006/main" noGrp="1"/>
          </p:cNvSpPr>
          <p:nvPr/>
        </p:nvSpPr>
        <p:spPr>
          <a:xfrm xmlns:a="http://schemas.openxmlformats.org/drawingml/2006/main">
            <a:off x="266700" y="266700"/>
            <a:ext cx="11658600" cy="5962650"/>
          </a:xfrm>
          <a:prstGeom xmlns:a="http://schemas.openxmlformats.org/drawingml/2006/main" prst="roundRect">
            <a:avLst>
              <a:gd name="adj" fmla="val 1917"/>
            </a:avLst>
          </a:prstGeom>
          <a:solidFill xmlns:a="http://schemas.openxmlformats.org/drawingml/2006/main">
            <a:srgbClr val="FFFFFF"/>
          </a:solidFill>
          <a:ln xmlns:a="http://schemas.openxmlformats.org/drawingml/2006/main" w="9525">
            <a:solidFill>
              <a:srgbClr val="D8DDE6"/>
            </a:solidFill>
            <a:prstDash val="solid"/>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8405ec20a8f4390"/>
          <a:stretch xmlns:a="http://schemas.openxmlformats.org/drawingml/2006/main"/>
        </p:blipFill>
        <p:spPr>
          <a:xfrm xmlns:a="http://schemas.openxmlformats.org/drawingml/2006/main">
            <a:off x="507643" y="266700"/>
            <a:ext cx="11176714" cy="5962650"/>
          </a:xfrm>
          <a:prstGeom xmlns:a="http://schemas.openxmlformats.org/drawingml/2006/main" prst="roundRect">
            <a:avLst>
              <a:gd name="adj" fmla="val 1917"/>
            </a:avLst>
          </a:prstGeom>
        </p:spPr>
      </p:pic>
      <p:sp>
        <p:nvSpPr>
          <p:cNvPr id="3" name="surviving-features-band">
            <a:extLst xmlns:a="http://schemas.openxmlformats.org/drawingml/2006/main">
              <a:ext uri="{FF2B5EF4-FFF2-40B4-BE49-F238E27FC236}">
                <a16:creationId xmlns:a16="http://schemas.microsoft.com/office/drawing/2014/main" id="{CF11F19E-D5A0-4A47-A4CA-1736A23938CB}"/>
              </a:ext>
            </a:extLst>
          </p:cNvPr>
          <p:cNvSpPr>
            <a:spLocks xmlns:a="http://schemas.openxmlformats.org/drawingml/2006/main" noGrp="1"/>
          </p:cNvSpPr>
          <p:nvPr/>
        </p:nvSpPr>
        <p:spPr>
          <a:xfrm xmlns:a="http://schemas.openxmlformats.org/drawingml/2006/main">
            <a:off x="7239000" y="1066800"/>
            <a:ext cx="4267200" cy="495300"/>
          </a:xfrm>
          <a:prstGeom xmlns:a="http://schemas.openxmlformats.org/drawingml/2006/main" prst="roundRect">
            <a:avLst>
              <a:gd name="adj" fmla="val 23077"/>
            </a:avLst>
          </a:prstGeom>
          <a:solidFill xmlns:a="http://schemas.openxmlformats.org/drawingml/2006/main">
            <a:srgbClr val="EAF1FF"/>
          </a:solidFill>
          <a:ln xmlns:a="http://schemas.openxmlformats.org/drawingml/2006/main" w="0">
            <a:noFill/>
            <a:prstDash val="solid"/>
          </a:ln>
        </p:spPr>
      </p:sp>
      <p:sp>
        <p:nvSpPr>
          <p:cNvPr id="4" name="surviving-features">
            <a:extLst xmlns:a="http://schemas.openxmlformats.org/drawingml/2006/main">
              <a:ext uri="{FF2B5EF4-FFF2-40B4-BE49-F238E27FC236}">
                <a16:creationId xmlns:a16="http://schemas.microsoft.com/office/drawing/2014/main" id="{07BA3E90-A06D-4105-BA47-173D00C5D39B}"/>
              </a:ext>
            </a:extLst>
          </p:cNvPr>
          <p:cNvSpPr>
            <a:spLocks xmlns:a="http://schemas.openxmlformats.org/drawingml/2006/main" noGrp="1"/>
          </p:cNvSpPr>
          <p:nvPr/>
        </p:nvSpPr>
        <p:spPr>
          <a:xfrm xmlns:a="http://schemas.openxmlformats.org/drawingml/2006/main">
            <a:off x="7429500" y="1200150"/>
            <a:ext cx="3886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275" b="1">
                <a:solidFill>
                  <a:srgbClr val="2563EB"/>
                </a:solidFill>
                <a:latin typeface="Arial"/>
                <a:ea typeface="Arial"/>
                <a:cs typeface="Arial"/>
              </a:defRPr>
            </a:pPr>
            <a:r>
              <a:rPr sz="1275" b="1">
                <a:solidFill>
                  <a:srgbClr val="2563EB"/>
                </a:solidFill>
                <a:latin typeface="Arial"/>
                <a:ea typeface="Arial"/>
                <a:cs typeface="Arial"/>
              </a:rPr>
              <a:t>All five headline manuscript features survive</a:t>
            </a:r>
          </a:p>
        </p:txBody>
      </p:sp>
      <p:sp>
        <p:nvSpPr>
          <p:cNvPr id="5" name="source">
            <a:extLst xmlns:a="http://schemas.openxmlformats.org/drawingml/2006/main">
              <a:ext uri="{FF2B5EF4-FFF2-40B4-BE49-F238E27FC236}">
                <a16:creationId xmlns:a16="http://schemas.microsoft.com/office/drawing/2014/main" id="{20BCB872-9E05-495D-B743-1022D6667BCB}"/>
              </a:ext>
            </a:extLst>
          </p:cNvPr>
          <p:cNvSpPr>
            <a:spLocks xmlns:a="http://schemas.openxmlformats.org/drawingml/2006/main" noGrp="1"/>
          </p:cNvSpPr>
          <p:nvPr/>
        </p:nvSpPr>
        <p:spPr>
          <a:xfrm xmlns:a="http://schemas.openxmlformats.org/drawingml/2006/main">
            <a:off x="457200" y="63436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26079"/>
                </a:solidFill>
                <a:latin typeface="Arial"/>
                <a:ea typeface="Arial"/>
                <a:cs typeface="Arial"/>
              </a:defRPr>
            </a:pPr>
            <a:r>
              <a:rPr sz="975" b="0">
                <a:solidFill>
                  <a:srgbClr val="526079"/>
                </a:solidFill>
                <a:latin typeface="Arial"/>
                <a:ea typeface="Arial"/>
                <a:cs typeface="Arial"/>
              </a:rPr>
              <a:t>Source: summary.json; corrected distinct-graph feature membership</a:t>
            </a:r>
          </a:p>
        </p:txBody>
      </p:sp>
      <p:sp>
        <p:nvSpPr>
          <p:cNvPr id="6" name="slide-3-number">
            <a:extLst xmlns:a="http://schemas.openxmlformats.org/drawingml/2006/main">
              <a:ext uri="{FF2B5EF4-FFF2-40B4-BE49-F238E27FC236}">
                <a16:creationId xmlns:a16="http://schemas.microsoft.com/office/drawing/2014/main" id="{F8BFFF5E-CE4C-400C-A578-D4428AEC82CE}"/>
              </a:ext>
            </a:extLst>
          </p:cNvPr>
          <p:cNvSpPr>
            <a:spLocks xmlns:a="http://schemas.openxmlformats.org/drawingml/2006/main" noGrp="1"/>
          </p:cNvSpPr>
          <p:nvPr/>
        </p:nvSpPr>
        <p:spPr>
          <a:xfrm xmlns:a="http://schemas.openxmlformats.org/drawingml/2006/main">
            <a:off x="11372850" y="63436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26079"/>
                </a:solidFill>
                <a:latin typeface="Arial"/>
                <a:ea typeface="Arial"/>
                <a:cs typeface="Arial"/>
              </a:defRPr>
            </a:pPr>
            <a:r>
              <a:rPr sz="1050" b="0">
                <a:solidFill>
                  <a:srgbClr val="526079"/>
                </a:solidFill>
                <a:latin typeface="Arial"/>
                <a:ea typeface="Arial"/>
                <a:cs typeface="Arial"/>
              </a:rPr>
              <a:t>3</a:t>
            </a:r>
          </a:p>
        </p:txBody>
      </p:sp>
    </p:spTree>
    <p:extLst>
      <p:ext uri="{BB962C8B-B14F-4D97-AF65-F5344CB8AC3E}">
        <p14:creationId xmlns:p14="http://schemas.microsoft.com/office/powerpoint/2010/main" val="17743831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4-title">
            <a:extLst xmlns:a="http://schemas.openxmlformats.org/drawingml/2006/main">
              <a:ext uri="{FF2B5EF4-FFF2-40B4-BE49-F238E27FC236}">
                <a16:creationId xmlns:a16="http://schemas.microsoft.com/office/drawing/2014/main" id="{4058926F-12B0-4FB2-8CA0-23FDEE94B070}"/>
              </a:ext>
            </a:extLst>
          </p:cNvPr>
          <p:cNvSpPr>
            <a:spLocks xmlns:a="http://schemas.openxmlformats.org/drawingml/2006/main" noGrp="1"/>
          </p:cNvSpPr>
          <p:nvPr/>
        </p:nvSpPr>
        <p:spPr>
          <a:xfrm xmlns:a="http://schemas.openxmlformats.org/drawingml/2006/main">
            <a:off x="457200" y="3238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BIC selects three phases among the segmented models</a:t>
            </a:r>
          </a:p>
        </p:txBody>
      </p:sp>
      <p:sp>
        <p:nvSpPr>
          <p:cNvPr id="2" name="slide-4-number">
            <a:extLst xmlns:a="http://schemas.openxmlformats.org/drawingml/2006/main">
              <a:ext uri="{FF2B5EF4-FFF2-40B4-BE49-F238E27FC236}">
                <a16:creationId xmlns:a16="http://schemas.microsoft.com/office/drawing/2014/main" id="{BAE233AC-AA84-4F04-9A01-DB78FFA01386}"/>
              </a:ext>
            </a:extLst>
          </p:cNvPr>
          <p:cNvSpPr>
            <a:spLocks xmlns:a="http://schemas.openxmlformats.org/drawingml/2006/main" noGrp="1"/>
          </p:cNvSpPr>
          <p:nvPr/>
        </p:nvSpPr>
        <p:spPr>
          <a:xfrm xmlns:a="http://schemas.openxmlformats.org/drawingml/2006/main">
            <a:off x="11372850" y="63436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26079"/>
                </a:solidFill>
                <a:latin typeface="Arial"/>
                <a:ea typeface="Arial"/>
                <a:cs typeface="Arial"/>
              </a:defRPr>
            </a:pPr>
            <a:r>
              <a:rPr sz="1050" b="0">
                <a:solidFill>
                  <a:srgbClr val="526079"/>
                </a:solidFill>
                <a:latin typeface="Arial"/>
                <a:ea typeface="Arial"/>
                <a:cs typeface="Arial"/>
              </a:rPr>
              <a:t>4</a:t>
            </a:r>
          </a:p>
        </p:txBody>
      </p:sp>
      <p:sp>
        <p:nvSpPr>
          <p:cNvPr id="3" name="bic-acronym">
            <a:extLst xmlns:a="http://schemas.openxmlformats.org/drawingml/2006/main">
              <a:ext uri="{FF2B5EF4-FFF2-40B4-BE49-F238E27FC236}">
                <a16:creationId xmlns:a16="http://schemas.microsoft.com/office/drawing/2014/main" id="{425A067B-1FA8-420D-8371-6B39C10877D8}"/>
              </a:ext>
            </a:extLst>
          </p:cNvPr>
          <p:cNvSpPr>
            <a:spLocks xmlns:a="http://schemas.openxmlformats.org/drawingml/2006/main" noGrp="1"/>
          </p:cNvSpPr>
          <p:nvPr/>
        </p:nvSpPr>
        <p:spPr>
          <a:xfrm xmlns:a="http://schemas.openxmlformats.org/drawingml/2006/main">
            <a:off x="571500" y="1600200"/>
            <a:ext cx="266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5400" b="1">
                <a:solidFill>
                  <a:srgbClr val="2563EB"/>
                </a:solidFill>
                <a:latin typeface="Arial"/>
                <a:ea typeface="Arial"/>
                <a:cs typeface="Arial"/>
              </a:defRPr>
            </a:pPr>
            <a:r>
              <a:rPr sz="5400" b="1">
                <a:solidFill>
                  <a:srgbClr val="2563EB"/>
                </a:solidFill>
                <a:latin typeface="Arial"/>
                <a:ea typeface="Arial"/>
                <a:cs typeface="Arial"/>
              </a:rPr>
              <a:t>BIC</a:t>
            </a:r>
          </a:p>
        </p:txBody>
      </p:sp>
      <p:sp>
        <p:nvSpPr>
          <p:cNvPr id="4" name="bic-name">
            <a:extLst xmlns:a="http://schemas.openxmlformats.org/drawingml/2006/main">
              <a:ext uri="{FF2B5EF4-FFF2-40B4-BE49-F238E27FC236}">
                <a16:creationId xmlns:a16="http://schemas.microsoft.com/office/drawing/2014/main" id="{15E141E7-9630-49DC-B1C3-F9BF6E69752C}"/>
              </a:ext>
            </a:extLst>
          </p:cNvPr>
          <p:cNvSpPr>
            <a:spLocks xmlns:a="http://schemas.openxmlformats.org/drawingml/2006/main" noGrp="1"/>
          </p:cNvSpPr>
          <p:nvPr/>
        </p:nvSpPr>
        <p:spPr>
          <a:xfrm xmlns:a="http://schemas.openxmlformats.org/drawingml/2006/main">
            <a:off x="571500" y="2571750"/>
            <a:ext cx="4343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11827"/>
                </a:solidFill>
                <a:latin typeface="Arial"/>
                <a:ea typeface="Arial"/>
                <a:cs typeface="Arial"/>
              </a:defRPr>
            </a:pPr>
            <a:r>
              <a:rPr sz="2175" b="1">
                <a:solidFill>
                  <a:srgbClr val="111827"/>
                </a:solidFill>
                <a:latin typeface="Arial"/>
                <a:ea typeface="Arial"/>
                <a:cs typeface="Arial"/>
              </a:rPr>
              <a:t>Bayesian Information Criterion</a:t>
            </a:r>
          </a:p>
        </p:txBody>
      </p:sp>
      <p:sp>
        <p:nvSpPr>
          <p:cNvPr id="5" name="bic-definition">
            <a:extLst xmlns:a="http://schemas.openxmlformats.org/drawingml/2006/main">
              <a:ext uri="{FF2B5EF4-FFF2-40B4-BE49-F238E27FC236}">
                <a16:creationId xmlns:a16="http://schemas.microsoft.com/office/drawing/2014/main" id="{A9678B91-DE47-43EE-8FED-688F453EE852}"/>
              </a:ext>
            </a:extLst>
          </p:cNvPr>
          <p:cNvSpPr>
            <a:spLocks xmlns:a="http://schemas.openxmlformats.org/drawingml/2006/main" noGrp="1"/>
          </p:cNvSpPr>
          <p:nvPr/>
        </p:nvSpPr>
        <p:spPr>
          <a:xfrm xmlns:a="http://schemas.openxmlformats.org/drawingml/2006/main">
            <a:off x="571500" y="3543300"/>
            <a:ext cx="400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26079"/>
                </a:solidFill>
                <a:latin typeface="Arial"/>
                <a:ea typeface="Arial"/>
                <a:cs typeface="Arial"/>
              </a:defRPr>
            </a:pPr>
            <a:r>
              <a:rPr sz="1875" b="0">
                <a:solidFill>
                  <a:srgbClr val="526079"/>
                </a:solidFill>
                <a:latin typeface="Arial"/>
                <a:ea typeface="Arial"/>
                <a:cs typeface="Arial"/>
              </a:rPr>
              <a:t>Measures model fit</a:t>
            </a:r>
          </a:p>
          <a:p xmlns:a="http://schemas.openxmlformats.org/drawingml/2006/main">
            <a:pPr algn="l">
              <a:defRPr sz="1875" b="0">
                <a:solidFill>
                  <a:srgbClr val="526079"/>
                </a:solidFill>
                <a:latin typeface="Arial"/>
                <a:ea typeface="Arial"/>
                <a:cs typeface="Arial"/>
              </a:defRPr>
            </a:pPr>
            <a:r>
              <a:rPr sz="1875" b="0">
                <a:solidFill>
                  <a:srgbClr val="526079"/>
                </a:solidFill>
                <a:latin typeface="Arial"/>
                <a:ea typeface="Arial"/>
                <a:cs typeface="Arial"/>
              </a:rPr>
              <a:t>+</a:t>
            </a:r>
          </a:p>
          <a:p xmlns:a="http://schemas.openxmlformats.org/drawingml/2006/main">
            <a:pPr algn="l">
              <a:defRPr sz="1875" b="0">
                <a:solidFill>
                  <a:srgbClr val="526079"/>
                </a:solidFill>
                <a:latin typeface="Arial"/>
                <a:ea typeface="Arial"/>
                <a:cs typeface="Arial"/>
              </a:defRPr>
            </a:pPr>
            <a:r>
              <a:rPr sz="1875" b="0">
                <a:solidFill>
                  <a:srgbClr val="526079"/>
                </a:solidFill>
                <a:latin typeface="Arial"/>
                <a:ea typeface="Arial"/>
                <a:cs typeface="Arial"/>
              </a:rPr>
              <a:t>penalizes extra parameters</a:t>
            </a:r>
          </a:p>
        </p:txBody>
      </p:sp>
      <p:sp>
        <p:nvSpPr>
          <p:cNvPr id="6" name="lower-better">
            <a:extLst xmlns:a="http://schemas.openxmlformats.org/drawingml/2006/main">
              <a:ext uri="{FF2B5EF4-FFF2-40B4-BE49-F238E27FC236}">
                <a16:creationId xmlns:a16="http://schemas.microsoft.com/office/drawing/2014/main" id="{0F165873-A1E0-461B-9E29-E102E33D32A1}"/>
              </a:ext>
            </a:extLst>
          </p:cNvPr>
          <p:cNvSpPr>
            <a:spLocks xmlns:a="http://schemas.openxmlformats.org/drawingml/2006/main" noGrp="1"/>
          </p:cNvSpPr>
          <p:nvPr/>
        </p:nvSpPr>
        <p:spPr>
          <a:xfrm xmlns:a="http://schemas.openxmlformats.org/drawingml/2006/main">
            <a:off x="571500" y="53149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563EB"/>
                </a:solidFill>
                <a:latin typeface="Arial"/>
                <a:ea typeface="Arial"/>
                <a:cs typeface="Arial"/>
              </a:defRPr>
            </a:pPr>
            <a:r>
              <a:rPr sz="1800" b="1">
                <a:solidFill>
                  <a:srgbClr val="2563EB"/>
                </a:solidFill>
                <a:latin typeface="Arial"/>
                <a:ea typeface="Arial"/>
                <a:cs typeface="Arial"/>
              </a:rPr>
              <a:t>Lower is better</a:t>
            </a:r>
          </a:p>
        </p:txBody>
      </p:sp>
      <p:sp>
        <p:nvSpPr>
          <p:cNvPr id="7" name="bic-row-1">
            <a:extLst xmlns:a="http://schemas.openxmlformats.org/drawingml/2006/main">
              <a:ext uri="{FF2B5EF4-FFF2-40B4-BE49-F238E27FC236}">
                <a16:creationId xmlns:a16="http://schemas.microsoft.com/office/drawing/2014/main" id="{0351C3B2-99D7-4038-B379-75A0B9E664DD}"/>
              </a:ext>
            </a:extLst>
          </p:cNvPr>
          <p:cNvSpPr>
            <a:spLocks xmlns:a="http://schemas.openxmlformats.org/drawingml/2006/main" noGrp="1"/>
          </p:cNvSpPr>
          <p:nvPr/>
        </p:nvSpPr>
        <p:spPr>
          <a:xfrm xmlns:a="http://schemas.openxmlformats.org/drawingml/2006/main">
            <a:off x="5391150" y="1581150"/>
            <a:ext cx="6191250" cy="609600"/>
          </a:xfrm>
          <a:prstGeom xmlns:a="http://schemas.openxmlformats.org/drawingml/2006/main" prst="roundRect">
            <a:avLst>
              <a:gd name="adj" fmla="val 18750"/>
            </a:avLst>
          </a:prstGeom>
          <a:solidFill xmlns:a="http://schemas.openxmlformats.org/drawingml/2006/main">
            <a:srgbClr val="F2F4F7"/>
          </a:solidFill>
          <a:ln xmlns:a="http://schemas.openxmlformats.org/drawingml/2006/main" w="0">
            <a:noFill/>
            <a:prstDash val="solid"/>
          </a:ln>
        </p:spPr>
      </p:sp>
      <p:sp>
        <p:nvSpPr>
          <p:cNvPr id="8" name="bic-phase-1">
            <a:extLst xmlns:a="http://schemas.openxmlformats.org/drawingml/2006/main">
              <a:ext uri="{FF2B5EF4-FFF2-40B4-BE49-F238E27FC236}">
                <a16:creationId xmlns:a16="http://schemas.microsoft.com/office/drawing/2014/main" id="{4E88E4E9-8FA8-4425-B082-554ED33CEC01}"/>
              </a:ext>
            </a:extLst>
          </p:cNvPr>
          <p:cNvSpPr>
            <a:spLocks xmlns:a="http://schemas.openxmlformats.org/drawingml/2006/main" noGrp="1"/>
          </p:cNvSpPr>
          <p:nvPr/>
        </p:nvSpPr>
        <p:spPr>
          <a:xfrm xmlns:a="http://schemas.openxmlformats.org/drawingml/2006/main">
            <a:off x="5619750" y="17430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1 phase</a:t>
            </a:r>
          </a:p>
        </p:txBody>
      </p:sp>
      <p:sp>
        <p:nvSpPr>
          <p:cNvPr id="9" name="bic-boundaries-1">
            <a:extLst xmlns:a="http://schemas.openxmlformats.org/drawingml/2006/main">
              <a:ext uri="{FF2B5EF4-FFF2-40B4-BE49-F238E27FC236}">
                <a16:creationId xmlns:a16="http://schemas.microsoft.com/office/drawing/2014/main" id="{49E61F17-B000-4B56-AF23-D023D97AE88C}"/>
              </a:ext>
            </a:extLst>
          </p:cNvPr>
          <p:cNvSpPr>
            <a:spLocks xmlns:a="http://schemas.openxmlformats.org/drawingml/2006/main" noGrp="1"/>
          </p:cNvSpPr>
          <p:nvPr/>
        </p:nvSpPr>
        <p:spPr>
          <a:xfrm xmlns:a="http://schemas.openxmlformats.org/drawingml/2006/main">
            <a:off x="7124700" y="17430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26079"/>
                </a:solidFill>
                <a:latin typeface="Arial"/>
                <a:ea typeface="Arial"/>
                <a:cs typeface="Arial"/>
              </a:defRPr>
            </a:pPr>
            <a:r>
              <a:rPr sz="1425" b="0">
                <a:solidFill>
                  <a:srgbClr val="526079"/>
                </a:solidFill>
                <a:latin typeface="Arial"/>
                <a:ea typeface="Arial"/>
                <a:cs typeface="Arial"/>
              </a:rPr>
              <a:t>—</a:t>
            </a:r>
          </a:p>
        </p:txBody>
      </p:sp>
      <p:sp>
        <p:nvSpPr>
          <p:cNvPr id="10" name="bic-value-1">
            <a:extLst xmlns:a="http://schemas.openxmlformats.org/drawingml/2006/main">
              <a:ext uri="{FF2B5EF4-FFF2-40B4-BE49-F238E27FC236}">
                <a16:creationId xmlns:a16="http://schemas.microsoft.com/office/drawing/2014/main" id="{DDC93CB6-14C9-4158-8485-BC62E924573B}"/>
              </a:ext>
            </a:extLst>
          </p:cNvPr>
          <p:cNvSpPr>
            <a:spLocks xmlns:a="http://schemas.openxmlformats.org/drawingml/2006/main" noGrp="1"/>
          </p:cNvSpPr>
          <p:nvPr/>
        </p:nvSpPr>
        <p:spPr>
          <a:xfrm xmlns:a="http://schemas.openxmlformats.org/drawingml/2006/main">
            <a:off x="9810750" y="170497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875" b="1">
                <a:solidFill>
                  <a:srgbClr val="111827"/>
                </a:solidFill>
                <a:latin typeface="Arial"/>
                <a:ea typeface="Arial"/>
                <a:cs typeface="Arial"/>
              </a:defRPr>
            </a:pPr>
            <a:r>
              <a:rPr sz="1875" b="1">
                <a:solidFill>
                  <a:srgbClr val="111827"/>
                </a:solidFill>
                <a:latin typeface="Arial"/>
                <a:ea typeface="Arial"/>
                <a:cs typeface="Arial"/>
              </a:rPr>
              <a:t>−1.9</a:t>
            </a:r>
          </a:p>
        </p:txBody>
      </p:sp>
      <p:sp>
        <p:nvSpPr>
          <p:cNvPr id="11" name="bic-row-2">
            <a:extLst xmlns:a="http://schemas.openxmlformats.org/drawingml/2006/main">
              <a:ext uri="{FF2B5EF4-FFF2-40B4-BE49-F238E27FC236}">
                <a16:creationId xmlns:a16="http://schemas.microsoft.com/office/drawing/2014/main" id="{C3065A67-E715-4D09-8038-A058E12E5AEE}"/>
              </a:ext>
            </a:extLst>
          </p:cNvPr>
          <p:cNvSpPr>
            <a:spLocks xmlns:a="http://schemas.openxmlformats.org/drawingml/2006/main" noGrp="1"/>
          </p:cNvSpPr>
          <p:nvPr/>
        </p:nvSpPr>
        <p:spPr>
          <a:xfrm xmlns:a="http://schemas.openxmlformats.org/drawingml/2006/main">
            <a:off x="5391150" y="2324100"/>
            <a:ext cx="6191250" cy="609600"/>
          </a:xfrm>
          <a:prstGeom xmlns:a="http://schemas.openxmlformats.org/drawingml/2006/main" prst="roundRect">
            <a:avLst>
              <a:gd name="adj" fmla="val 18750"/>
            </a:avLst>
          </a:prstGeom>
          <a:solidFill xmlns:a="http://schemas.openxmlformats.org/drawingml/2006/main">
            <a:srgbClr val="F2F4F7"/>
          </a:solidFill>
          <a:ln xmlns:a="http://schemas.openxmlformats.org/drawingml/2006/main" w="0">
            <a:noFill/>
            <a:prstDash val="solid"/>
          </a:ln>
        </p:spPr>
      </p:sp>
      <p:sp>
        <p:nvSpPr>
          <p:cNvPr id="12" name="bic-phase-2">
            <a:extLst xmlns:a="http://schemas.openxmlformats.org/drawingml/2006/main">
              <a:ext uri="{FF2B5EF4-FFF2-40B4-BE49-F238E27FC236}">
                <a16:creationId xmlns:a16="http://schemas.microsoft.com/office/drawing/2014/main" id="{3631DD4C-E53E-4122-BF33-9FEACAD8D974}"/>
              </a:ext>
            </a:extLst>
          </p:cNvPr>
          <p:cNvSpPr>
            <a:spLocks xmlns:a="http://schemas.openxmlformats.org/drawingml/2006/main" noGrp="1"/>
          </p:cNvSpPr>
          <p:nvPr/>
        </p:nvSpPr>
        <p:spPr>
          <a:xfrm xmlns:a="http://schemas.openxmlformats.org/drawingml/2006/main">
            <a:off x="5619750" y="24860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2 phases</a:t>
            </a:r>
          </a:p>
        </p:txBody>
      </p:sp>
      <p:sp>
        <p:nvSpPr>
          <p:cNvPr id="13" name="bic-boundaries-2">
            <a:extLst xmlns:a="http://schemas.openxmlformats.org/drawingml/2006/main">
              <a:ext uri="{FF2B5EF4-FFF2-40B4-BE49-F238E27FC236}">
                <a16:creationId xmlns:a16="http://schemas.microsoft.com/office/drawing/2014/main" id="{04708BDF-76DD-4933-9236-B4AC6F6B48A0}"/>
              </a:ext>
            </a:extLst>
          </p:cNvPr>
          <p:cNvSpPr>
            <a:spLocks xmlns:a="http://schemas.openxmlformats.org/drawingml/2006/main" noGrp="1"/>
          </p:cNvSpPr>
          <p:nvPr/>
        </p:nvSpPr>
        <p:spPr>
          <a:xfrm xmlns:a="http://schemas.openxmlformats.org/drawingml/2006/main">
            <a:off x="7124700" y="24860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26079"/>
                </a:solidFill>
                <a:latin typeface="Arial"/>
                <a:ea typeface="Arial"/>
                <a:cs typeface="Arial"/>
              </a:defRPr>
            </a:pPr>
            <a:r>
              <a:rPr sz="1425" b="0">
                <a:solidFill>
                  <a:srgbClr val="526079"/>
                </a:solidFill>
                <a:latin typeface="Arial"/>
                <a:ea typeface="Arial"/>
                <a:cs typeface="Arial"/>
              </a:rPr>
              <a:t>L10</a:t>
            </a:r>
          </a:p>
        </p:txBody>
      </p:sp>
      <p:sp>
        <p:nvSpPr>
          <p:cNvPr id="14" name="bic-value-2">
            <a:extLst xmlns:a="http://schemas.openxmlformats.org/drawingml/2006/main">
              <a:ext uri="{FF2B5EF4-FFF2-40B4-BE49-F238E27FC236}">
                <a16:creationId xmlns:a16="http://schemas.microsoft.com/office/drawing/2014/main" id="{2D1E46B7-0B4A-41C6-B4B8-51AA92BCBF37}"/>
              </a:ext>
            </a:extLst>
          </p:cNvPr>
          <p:cNvSpPr>
            <a:spLocks xmlns:a="http://schemas.openxmlformats.org/drawingml/2006/main" noGrp="1"/>
          </p:cNvSpPr>
          <p:nvPr/>
        </p:nvSpPr>
        <p:spPr>
          <a:xfrm xmlns:a="http://schemas.openxmlformats.org/drawingml/2006/main">
            <a:off x="9810750" y="244792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875" b="1">
                <a:solidFill>
                  <a:srgbClr val="111827"/>
                </a:solidFill>
                <a:latin typeface="Arial"/>
                <a:ea typeface="Arial"/>
                <a:cs typeface="Arial"/>
              </a:defRPr>
            </a:pPr>
            <a:r>
              <a:rPr sz="1875" b="1">
                <a:solidFill>
                  <a:srgbClr val="111827"/>
                </a:solidFill>
                <a:latin typeface="Arial"/>
                <a:ea typeface="Arial"/>
                <a:cs typeface="Arial"/>
              </a:rPr>
              <a:t>−53.8</a:t>
            </a:r>
          </a:p>
        </p:txBody>
      </p:sp>
      <p:sp>
        <p:nvSpPr>
          <p:cNvPr id="15" name="bic-row-3">
            <a:extLst xmlns:a="http://schemas.openxmlformats.org/drawingml/2006/main">
              <a:ext uri="{FF2B5EF4-FFF2-40B4-BE49-F238E27FC236}">
                <a16:creationId xmlns:a16="http://schemas.microsoft.com/office/drawing/2014/main" id="{1FF19399-BD8A-4DCC-A68B-1C6020C7E0B4}"/>
              </a:ext>
            </a:extLst>
          </p:cNvPr>
          <p:cNvSpPr>
            <a:spLocks xmlns:a="http://schemas.openxmlformats.org/drawingml/2006/main" noGrp="1"/>
          </p:cNvSpPr>
          <p:nvPr/>
        </p:nvSpPr>
        <p:spPr>
          <a:xfrm xmlns:a="http://schemas.openxmlformats.org/drawingml/2006/main">
            <a:off x="5391150" y="3067050"/>
            <a:ext cx="6191250" cy="609600"/>
          </a:xfrm>
          <a:prstGeom xmlns:a="http://schemas.openxmlformats.org/drawingml/2006/main" prst="roundRect">
            <a:avLst>
              <a:gd name="adj" fmla="val 18750"/>
            </a:avLst>
          </a:prstGeom>
          <a:solidFill xmlns:a="http://schemas.openxmlformats.org/drawingml/2006/main">
            <a:srgbClr val="2563EB"/>
          </a:solidFill>
          <a:ln xmlns:a="http://schemas.openxmlformats.org/drawingml/2006/main" w="0">
            <a:noFill/>
            <a:prstDash val="solid"/>
          </a:ln>
        </p:spPr>
      </p:sp>
      <p:sp>
        <p:nvSpPr>
          <p:cNvPr id="16" name="bic-phase-3">
            <a:extLst xmlns:a="http://schemas.openxmlformats.org/drawingml/2006/main">
              <a:ext uri="{FF2B5EF4-FFF2-40B4-BE49-F238E27FC236}">
                <a16:creationId xmlns:a16="http://schemas.microsoft.com/office/drawing/2014/main" id="{9F48A690-8589-495B-A7BB-DB74F81BE0F7}"/>
              </a:ext>
            </a:extLst>
          </p:cNvPr>
          <p:cNvSpPr>
            <a:spLocks xmlns:a="http://schemas.openxmlformats.org/drawingml/2006/main" noGrp="1"/>
          </p:cNvSpPr>
          <p:nvPr/>
        </p:nvSpPr>
        <p:spPr>
          <a:xfrm xmlns:a="http://schemas.openxmlformats.org/drawingml/2006/main">
            <a:off x="5619750" y="32289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3 phases</a:t>
            </a:r>
          </a:p>
        </p:txBody>
      </p:sp>
      <p:sp>
        <p:nvSpPr>
          <p:cNvPr id="17" name="bic-boundaries-3">
            <a:extLst xmlns:a="http://schemas.openxmlformats.org/drawingml/2006/main">
              <a:ext uri="{FF2B5EF4-FFF2-40B4-BE49-F238E27FC236}">
                <a16:creationId xmlns:a16="http://schemas.microsoft.com/office/drawing/2014/main" id="{4BC0B44D-2CF2-4042-ABD0-C86C39DCD2A9}"/>
              </a:ext>
            </a:extLst>
          </p:cNvPr>
          <p:cNvSpPr>
            <a:spLocks xmlns:a="http://schemas.openxmlformats.org/drawingml/2006/main" noGrp="1"/>
          </p:cNvSpPr>
          <p:nvPr/>
        </p:nvSpPr>
        <p:spPr>
          <a:xfrm xmlns:a="http://schemas.openxmlformats.org/drawingml/2006/main">
            <a:off x="7124700" y="32289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FFFFFF"/>
                </a:solidFill>
                <a:latin typeface="Arial"/>
                <a:ea typeface="Arial"/>
                <a:cs typeface="Arial"/>
              </a:defRPr>
            </a:pPr>
            <a:r>
              <a:rPr sz="1425" b="0">
                <a:solidFill>
                  <a:srgbClr val="FFFFFF"/>
                </a:solidFill>
                <a:latin typeface="Arial"/>
                <a:ea typeface="Arial"/>
                <a:cs typeface="Arial"/>
              </a:rPr>
              <a:t>L7, L15</a:t>
            </a:r>
          </a:p>
        </p:txBody>
      </p:sp>
      <p:sp>
        <p:nvSpPr>
          <p:cNvPr id="18" name="bic-value-3">
            <a:extLst xmlns:a="http://schemas.openxmlformats.org/drawingml/2006/main">
              <a:ext uri="{FF2B5EF4-FFF2-40B4-BE49-F238E27FC236}">
                <a16:creationId xmlns:a16="http://schemas.microsoft.com/office/drawing/2014/main" id="{6243B88A-8781-46BB-A63B-B68F6C3D2657}"/>
              </a:ext>
            </a:extLst>
          </p:cNvPr>
          <p:cNvSpPr>
            <a:spLocks xmlns:a="http://schemas.openxmlformats.org/drawingml/2006/main" noGrp="1"/>
          </p:cNvSpPr>
          <p:nvPr/>
        </p:nvSpPr>
        <p:spPr>
          <a:xfrm xmlns:a="http://schemas.openxmlformats.org/drawingml/2006/main">
            <a:off x="9810750" y="319087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875" b="1">
                <a:solidFill>
                  <a:srgbClr val="FFFFFF"/>
                </a:solidFill>
                <a:latin typeface="Arial"/>
                <a:ea typeface="Arial"/>
                <a:cs typeface="Arial"/>
              </a:defRPr>
            </a:pPr>
            <a:r>
              <a:rPr sz="1875" b="1">
                <a:solidFill>
                  <a:srgbClr val="FFFFFF"/>
                </a:solidFill>
                <a:latin typeface="Arial"/>
                <a:ea typeface="Arial"/>
                <a:cs typeface="Arial"/>
              </a:rPr>
              <a:t>−74.4</a:t>
            </a:r>
          </a:p>
        </p:txBody>
      </p:sp>
      <p:sp>
        <p:nvSpPr>
          <p:cNvPr id="19" name="bic-row-4">
            <a:extLst xmlns:a="http://schemas.openxmlformats.org/drawingml/2006/main">
              <a:ext uri="{FF2B5EF4-FFF2-40B4-BE49-F238E27FC236}">
                <a16:creationId xmlns:a16="http://schemas.microsoft.com/office/drawing/2014/main" id="{F89A996F-67C0-4A06-A38C-1E51C780D55A}"/>
              </a:ext>
            </a:extLst>
          </p:cNvPr>
          <p:cNvSpPr>
            <a:spLocks xmlns:a="http://schemas.openxmlformats.org/drawingml/2006/main" noGrp="1"/>
          </p:cNvSpPr>
          <p:nvPr/>
        </p:nvSpPr>
        <p:spPr>
          <a:xfrm xmlns:a="http://schemas.openxmlformats.org/drawingml/2006/main">
            <a:off x="5391150" y="3810000"/>
            <a:ext cx="6191250" cy="609600"/>
          </a:xfrm>
          <a:prstGeom xmlns:a="http://schemas.openxmlformats.org/drawingml/2006/main" prst="roundRect">
            <a:avLst>
              <a:gd name="adj" fmla="val 18750"/>
            </a:avLst>
          </a:prstGeom>
          <a:solidFill xmlns:a="http://schemas.openxmlformats.org/drawingml/2006/main">
            <a:srgbClr val="F2F4F7"/>
          </a:solidFill>
          <a:ln xmlns:a="http://schemas.openxmlformats.org/drawingml/2006/main" w="0">
            <a:noFill/>
            <a:prstDash val="solid"/>
          </a:ln>
        </p:spPr>
      </p:sp>
      <p:sp>
        <p:nvSpPr>
          <p:cNvPr id="20" name="bic-phase-4">
            <a:extLst xmlns:a="http://schemas.openxmlformats.org/drawingml/2006/main">
              <a:ext uri="{FF2B5EF4-FFF2-40B4-BE49-F238E27FC236}">
                <a16:creationId xmlns:a16="http://schemas.microsoft.com/office/drawing/2014/main" id="{6DFCA5CD-2F23-4EC0-A645-7A906C54C8A1}"/>
              </a:ext>
            </a:extLst>
          </p:cNvPr>
          <p:cNvSpPr>
            <a:spLocks xmlns:a="http://schemas.openxmlformats.org/drawingml/2006/main" noGrp="1"/>
          </p:cNvSpPr>
          <p:nvPr/>
        </p:nvSpPr>
        <p:spPr>
          <a:xfrm xmlns:a="http://schemas.openxmlformats.org/drawingml/2006/main">
            <a:off x="5619750" y="39719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4 phases</a:t>
            </a:r>
          </a:p>
        </p:txBody>
      </p:sp>
      <p:sp>
        <p:nvSpPr>
          <p:cNvPr id="21" name="bic-boundaries-4">
            <a:extLst xmlns:a="http://schemas.openxmlformats.org/drawingml/2006/main">
              <a:ext uri="{FF2B5EF4-FFF2-40B4-BE49-F238E27FC236}">
                <a16:creationId xmlns:a16="http://schemas.microsoft.com/office/drawing/2014/main" id="{0DB30F1F-0CD0-4F40-96EC-8F821BB62C9B}"/>
              </a:ext>
            </a:extLst>
          </p:cNvPr>
          <p:cNvSpPr>
            <a:spLocks xmlns:a="http://schemas.openxmlformats.org/drawingml/2006/main" noGrp="1"/>
          </p:cNvSpPr>
          <p:nvPr/>
        </p:nvSpPr>
        <p:spPr>
          <a:xfrm xmlns:a="http://schemas.openxmlformats.org/drawingml/2006/main">
            <a:off x="7124700" y="39719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26079"/>
                </a:solidFill>
                <a:latin typeface="Arial"/>
                <a:ea typeface="Arial"/>
                <a:cs typeface="Arial"/>
              </a:defRPr>
            </a:pPr>
            <a:r>
              <a:rPr sz="1425" b="0">
                <a:solidFill>
                  <a:srgbClr val="526079"/>
                </a:solidFill>
                <a:latin typeface="Arial"/>
                <a:ea typeface="Arial"/>
                <a:cs typeface="Arial"/>
              </a:rPr>
              <a:t>L3, L7, L15</a:t>
            </a:r>
          </a:p>
        </p:txBody>
      </p:sp>
      <p:sp>
        <p:nvSpPr>
          <p:cNvPr id="22" name="bic-value-4">
            <a:extLst xmlns:a="http://schemas.openxmlformats.org/drawingml/2006/main">
              <a:ext uri="{FF2B5EF4-FFF2-40B4-BE49-F238E27FC236}">
                <a16:creationId xmlns:a16="http://schemas.microsoft.com/office/drawing/2014/main" id="{E5758B85-E06A-4397-B792-B2C3384F07E0}"/>
              </a:ext>
            </a:extLst>
          </p:cNvPr>
          <p:cNvSpPr>
            <a:spLocks xmlns:a="http://schemas.openxmlformats.org/drawingml/2006/main" noGrp="1"/>
          </p:cNvSpPr>
          <p:nvPr/>
        </p:nvSpPr>
        <p:spPr>
          <a:xfrm xmlns:a="http://schemas.openxmlformats.org/drawingml/2006/main">
            <a:off x="9810750" y="393382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875" b="1">
                <a:solidFill>
                  <a:srgbClr val="111827"/>
                </a:solidFill>
                <a:latin typeface="Arial"/>
                <a:ea typeface="Arial"/>
                <a:cs typeface="Arial"/>
              </a:defRPr>
            </a:pPr>
            <a:r>
              <a:rPr sz="1875" b="1">
                <a:solidFill>
                  <a:srgbClr val="111827"/>
                </a:solidFill>
                <a:latin typeface="Arial"/>
                <a:ea typeface="Arial"/>
                <a:cs typeface="Arial"/>
              </a:rPr>
              <a:t>−70.4</a:t>
            </a:r>
          </a:p>
        </p:txBody>
      </p:sp>
      <p:sp>
        <p:nvSpPr>
          <p:cNvPr id="23" name="bic-row-5">
            <a:extLst xmlns:a="http://schemas.openxmlformats.org/drawingml/2006/main">
              <a:ext uri="{FF2B5EF4-FFF2-40B4-BE49-F238E27FC236}">
                <a16:creationId xmlns:a16="http://schemas.microsoft.com/office/drawing/2014/main" id="{6EF9821B-E352-476B-9DD1-720F30D8420C}"/>
              </a:ext>
            </a:extLst>
          </p:cNvPr>
          <p:cNvSpPr>
            <a:spLocks xmlns:a="http://schemas.openxmlformats.org/drawingml/2006/main" noGrp="1"/>
          </p:cNvSpPr>
          <p:nvPr/>
        </p:nvSpPr>
        <p:spPr>
          <a:xfrm xmlns:a="http://schemas.openxmlformats.org/drawingml/2006/main">
            <a:off x="5391150" y="4552950"/>
            <a:ext cx="6191250" cy="609600"/>
          </a:xfrm>
          <a:prstGeom xmlns:a="http://schemas.openxmlformats.org/drawingml/2006/main" prst="roundRect">
            <a:avLst>
              <a:gd name="adj" fmla="val 18750"/>
            </a:avLst>
          </a:prstGeom>
          <a:solidFill xmlns:a="http://schemas.openxmlformats.org/drawingml/2006/main">
            <a:srgbClr val="F2F4F7"/>
          </a:solidFill>
          <a:ln xmlns:a="http://schemas.openxmlformats.org/drawingml/2006/main" w="0">
            <a:noFill/>
            <a:prstDash val="solid"/>
          </a:ln>
        </p:spPr>
      </p:sp>
      <p:sp>
        <p:nvSpPr>
          <p:cNvPr id="24" name="bic-phase-5">
            <a:extLst xmlns:a="http://schemas.openxmlformats.org/drawingml/2006/main">
              <a:ext uri="{FF2B5EF4-FFF2-40B4-BE49-F238E27FC236}">
                <a16:creationId xmlns:a16="http://schemas.microsoft.com/office/drawing/2014/main" id="{58A291B5-548D-4E47-BBA8-E30709F9759F}"/>
              </a:ext>
            </a:extLst>
          </p:cNvPr>
          <p:cNvSpPr>
            <a:spLocks xmlns:a="http://schemas.openxmlformats.org/drawingml/2006/main" noGrp="1"/>
          </p:cNvSpPr>
          <p:nvPr/>
        </p:nvSpPr>
        <p:spPr>
          <a:xfrm xmlns:a="http://schemas.openxmlformats.org/drawingml/2006/main">
            <a:off x="5619750" y="47148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5 phases</a:t>
            </a:r>
          </a:p>
        </p:txBody>
      </p:sp>
      <p:sp>
        <p:nvSpPr>
          <p:cNvPr id="25" name="bic-boundaries-5">
            <a:extLst xmlns:a="http://schemas.openxmlformats.org/drawingml/2006/main">
              <a:ext uri="{FF2B5EF4-FFF2-40B4-BE49-F238E27FC236}">
                <a16:creationId xmlns:a16="http://schemas.microsoft.com/office/drawing/2014/main" id="{DE053F91-A0C0-4CF2-A704-9CB8192DD451}"/>
              </a:ext>
            </a:extLst>
          </p:cNvPr>
          <p:cNvSpPr>
            <a:spLocks xmlns:a="http://schemas.openxmlformats.org/drawingml/2006/main" noGrp="1"/>
          </p:cNvSpPr>
          <p:nvPr/>
        </p:nvSpPr>
        <p:spPr>
          <a:xfrm xmlns:a="http://schemas.openxmlformats.org/drawingml/2006/main">
            <a:off x="7124700" y="47148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26079"/>
                </a:solidFill>
                <a:latin typeface="Arial"/>
                <a:ea typeface="Arial"/>
                <a:cs typeface="Arial"/>
              </a:defRPr>
            </a:pPr>
            <a:r>
              <a:rPr sz="1425" b="0">
                <a:solidFill>
                  <a:srgbClr val="526079"/>
                </a:solidFill>
                <a:latin typeface="Arial"/>
                <a:ea typeface="Arial"/>
                <a:cs typeface="Arial"/>
              </a:rPr>
              <a:t>L7, L14, L18, L22</a:t>
            </a:r>
          </a:p>
        </p:txBody>
      </p:sp>
      <p:sp>
        <p:nvSpPr>
          <p:cNvPr id="26" name="bic-value-5">
            <a:extLst xmlns:a="http://schemas.openxmlformats.org/drawingml/2006/main">
              <a:ext uri="{FF2B5EF4-FFF2-40B4-BE49-F238E27FC236}">
                <a16:creationId xmlns:a16="http://schemas.microsoft.com/office/drawing/2014/main" id="{9F8DC6B4-64E5-43A4-BC95-5E3AFE12A488}"/>
              </a:ext>
            </a:extLst>
          </p:cNvPr>
          <p:cNvSpPr>
            <a:spLocks xmlns:a="http://schemas.openxmlformats.org/drawingml/2006/main" noGrp="1"/>
          </p:cNvSpPr>
          <p:nvPr/>
        </p:nvSpPr>
        <p:spPr>
          <a:xfrm xmlns:a="http://schemas.openxmlformats.org/drawingml/2006/main">
            <a:off x="9810750" y="467677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875" b="1">
                <a:solidFill>
                  <a:srgbClr val="111827"/>
                </a:solidFill>
                <a:latin typeface="Arial"/>
                <a:ea typeface="Arial"/>
                <a:cs typeface="Arial"/>
              </a:defRPr>
            </a:pPr>
            <a:r>
              <a:rPr sz="1875" b="1">
                <a:solidFill>
                  <a:srgbClr val="111827"/>
                </a:solidFill>
                <a:latin typeface="Arial"/>
                <a:ea typeface="Arial"/>
                <a:cs typeface="Arial"/>
              </a:rPr>
              <a:t>−68.3</a:t>
            </a:r>
          </a:p>
        </p:txBody>
      </p:sp>
      <p:sp>
        <p:nvSpPr>
          <p:cNvPr id="27" name="source">
            <a:extLst xmlns:a="http://schemas.openxmlformats.org/drawingml/2006/main">
              <a:ext uri="{FF2B5EF4-FFF2-40B4-BE49-F238E27FC236}">
                <a16:creationId xmlns:a16="http://schemas.microsoft.com/office/drawing/2014/main" id="{FD653959-E5BB-4BFE-A30A-A7C64FA36145}"/>
              </a:ext>
            </a:extLst>
          </p:cNvPr>
          <p:cNvSpPr>
            <a:spLocks xmlns:a="http://schemas.openxmlformats.org/drawingml/2006/main" noGrp="1"/>
          </p:cNvSpPr>
          <p:nvPr/>
        </p:nvSpPr>
        <p:spPr>
          <a:xfrm xmlns:a="http://schemas.openxmlformats.org/drawingml/2006/main">
            <a:off x="457200" y="63436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26079"/>
                </a:solidFill>
                <a:latin typeface="Arial"/>
                <a:ea typeface="Arial"/>
                <a:cs typeface="Arial"/>
              </a:defRPr>
            </a:pPr>
            <a:r>
              <a:rPr sz="975" b="0">
                <a:solidFill>
                  <a:srgbClr val="526079"/>
                </a:solidFill>
                <a:latin typeface="Arial"/>
                <a:ea typeface="Arial"/>
                <a:cs typeface="Arial"/>
              </a:rPr>
              <a:t>BIC values from objective layer segmentation; lower is better</a:t>
            </a:r>
          </a:p>
        </p:txBody>
      </p:sp>
    </p:spTree>
    <p:extLst>
      <p:ext uri="{BB962C8B-B14F-4D97-AF65-F5344CB8AC3E}">
        <p14:creationId xmlns:p14="http://schemas.microsoft.com/office/powerpoint/2010/main" val="903868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5-title">
            <a:extLst xmlns:a="http://schemas.openxmlformats.org/drawingml/2006/main">
              <a:ext uri="{FF2B5EF4-FFF2-40B4-BE49-F238E27FC236}">
                <a16:creationId xmlns:a16="http://schemas.microsoft.com/office/drawing/2014/main" id="{398536CC-4865-463F-BA6F-78BD613495ED}"/>
              </a:ext>
            </a:extLst>
          </p:cNvPr>
          <p:cNvSpPr>
            <a:spLocks xmlns:a="http://schemas.openxmlformats.org/drawingml/2006/main" noGrp="1"/>
          </p:cNvSpPr>
          <p:nvPr/>
        </p:nvSpPr>
        <p:spPr>
          <a:xfrm xmlns:a="http://schemas.openxmlformats.org/drawingml/2006/main">
            <a:off x="457200" y="32385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11827"/>
                </a:solidFill>
                <a:latin typeface="Arial"/>
                <a:ea typeface="Arial"/>
                <a:cs typeface="Arial"/>
              </a:defRPr>
            </a:pPr>
            <a:r>
              <a:rPr sz="3000" b="1">
                <a:solidFill>
                  <a:srgbClr val="111827"/>
                </a:solidFill>
                <a:latin typeface="Arial"/>
                <a:ea typeface="Arial"/>
                <a:cs typeface="Arial"/>
              </a:rPr>
              <a:t>The selected boundaries define three numeric regimes</a:t>
            </a:r>
          </a:p>
        </p:txBody>
      </p:sp>
      <p:sp>
        <p:nvSpPr>
          <p:cNvPr id="2" name="slide-5-number">
            <a:extLst xmlns:a="http://schemas.openxmlformats.org/drawingml/2006/main">
              <a:ext uri="{FF2B5EF4-FFF2-40B4-BE49-F238E27FC236}">
                <a16:creationId xmlns:a16="http://schemas.microsoft.com/office/drawing/2014/main" id="{48A069CB-E11D-4791-8E39-BD8AC10DFD01}"/>
              </a:ext>
            </a:extLst>
          </p:cNvPr>
          <p:cNvSpPr>
            <a:spLocks xmlns:a="http://schemas.openxmlformats.org/drawingml/2006/main" noGrp="1"/>
          </p:cNvSpPr>
          <p:nvPr/>
        </p:nvSpPr>
        <p:spPr>
          <a:xfrm xmlns:a="http://schemas.openxmlformats.org/drawingml/2006/main">
            <a:off x="11372850" y="63436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26079"/>
                </a:solidFill>
                <a:latin typeface="Arial"/>
                <a:ea typeface="Arial"/>
                <a:cs typeface="Arial"/>
              </a:defRPr>
            </a:pPr>
            <a:r>
              <a:rPr sz="1050" b="0">
                <a:solidFill>
                  <a:srgbClr val="526079"/>
                </a:solidFill>
                <a:latin typeface="Arial"/>
                <a:ea typeface="Arial"/>
                <a:cs typeface="Arial"/>
              </a:rPr>
              <a:t>5</a:t>
            </a:r>
          </a:p>
        </p:txBody>
      </p:sp>
      <p:sp>
        <p:nvSpPr>
          <p:cNvPr id="3" name="phase-panel-1">
            <a:extLst xmlns:a="http://schemas.openxmlformats.org/drawingml/2006/main">
              <a:ext uri="{FF2B5EF4-FFF2-40B4-BE49-F238E27FC236}">
                <a16:creationId xmlns:a16="http://schemas.microsoft.com/office/drawing/2014/main" id="{AD45893F-0C8E-4576-8CC1-202689342645}"/>
              </a:ext>
            </a:extLst>
          </p:cNvPr>
          <p:cNvSpPr>
            <a:spLocks xmlns:a="http://schemas.openxmlformats.org/drawingml/2006/main" noGrp="1"/>
          </p:cNvSpPr>
          <p:nvPr/>
        </p:nvSpPr>
        <p:spPr>
          <a:xfrm xmlns:a="http://schemas.openxmlformats.org/drawingml/2006/main">
            <a:off x="457200" y="1390650"/>
            <a:ext cx="3581400" cy="4114800"/>
          </a:xfrm>
          <a:prstGeom xmlns:a="http://schemas.openxmlformats.org/drawingml/2006/main" prst="roundRect">
            <a:avLst>
              <a:gd name="adj" fmla="val 3191"/>
            </a:avLst>
          </a:prstGeom>
          <a:solidFill xmlns:a="http://schemas.openxmlformats.org/drawingml/2006/main">
            <a:srgbClr val="EAF1FF"/>
          </a:solidFill>
          <a:ln xmlns:a="http://schemas.openxmlformats.org/drawingml/2006/main" w="0">
            <a:noFill/>
            <a:prstDash val="solid"/>
          </a:ln>
        </p:spPr>
      </p:sp>
      <p:sp>
        <p:nvSpPr>
          <p:cNvPr id="4" name="phase-label-1">
            <a:extLst xmlns:a="http://schemas.openxmlformats.org/drawingml/2006/main">
              <a:ext uri="{FF2B5EF4-FFF2-40B4-BE49-F238E27FC236}">
                <a16:creationId xmlns:a16="http://schemas.microsoft.com/office/drawing/2014/main" id="{938409D5-DC14-41B9-917D-56A09956ECEA}"/>
              </a:ext>
            </a:extLst>
          </p:cNvPr>
          <p:cNvSpPr>
            <a:spLocks xmlns:a="http://schemas.openxmlformats.org/drawingml/2006/main" noGrp="1"/>
          </p:cNvSpPr>
          <p:nvPr/>
        </p:nvSpPr>
        <p:spPr>
          <a:xfrm xmlns:a="http://schemas.openxmlformats.org/drawingml/2006/main">
            <a:off x="723900" y="16764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PHASE 1</a:t>
            </a:r>
          </a:p>
        </p:txBody>
      </p:sp>
      <p:sp>
        <p:nvSpPr>
          <p:cNvPr id="5" name="phase-layers-1">
            <a:extLst xmlns:a="http://schemas.openxmlformats.org/drawingml/2006/main">
              <a:ext uri="{FF2B5EF4-FFF2-40B4-BE49-F238E27FC236}">
                <a16:creationId xmlns:a16="http://schemas.microsoft.com/office/drawing/2014/main" id="{EBF3F423-71DA-4EFE-995A-63C5BF18F495}"/>
              </a:ext>
            </a:extLst>
          </p:cNvPr>
          <p:cNvSpPr>
            <a:spLocks xmlns:a="http://schemas.openxmlformats.org/drawingml/2006/main" noGrp="1"/>
          </p:cNvSpPr>
          <p:nvPr/>
        </p:nvSpPr>
        <p:spPr>
          <a:xfrm xmlns:a="http://schemas.openxmlformats.org/drawingml/2006/main">
            <a:off x="723900" y="21145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1827"/>
                </a:solidFill>
                <a:latin typeface="Arial"/>
                <a:ea typeface="Arial"/>
                <a:cs typeface="Arial"/>
              </a:defRPr>
            </a:pPr>
            <a:r>
              <a:rPr sz="3300" b="1">
                <a:solidFill>
                  <a:srgbClr val="111827"/>
                </a:solidFill>
                <a:latin typeface="Arial"/>
                <a:ea typeface="Arial"/>
                <a:cs typeface="Arial"/>
              </a:rPr>
              <a:t>L0–L6</a:t>
            </a:r>
          </a:p>
        </p:txBody>
      </p:sp>
      <p:sp>
        <p:nvSpPr>
          <p:cNvPr id="6" name="phase-name-1">
            <a:extLst xmlns:a="http://schemas.openxmlformats.org/drawingml/2006/main">
              <a:ext uri="{FF2B5EF4-FFF2-40B4-BE49-F238E27FC236}">
                <a16:creationId xmlns:a16="http://schemas.microsoft.com/office/drawing/2014/main" id="{BD230641-6017-4732-976E-D221F63C1B81}"/>
              </a:ext>
            </a:extLst>
          </p:cNvPr>
          <p:cNvSpPr>
            <a:spLocks xmlns:a="http://schemas.openxmlformats.org/drawingml/2006/main" noGrp="1"/>
          </p:cNvSpPr>
          <p:nvPr/>
        </p:nvSpPr>
        <p:spPr>
          <a:xfrm xmlns:a="http://schemas.openxmlformats.org/drawingml/2006/main">
            <a:off x="723900" y="295275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Broad representation</a:t>
            </a:r>
          </a:p>
        </p:txBody>
      </p:sp>
      <p:sp>
        <p:nvSpPr>
          <p:cNvPr id="7" name="phase-body-1">
            <a:extLst xmlns:a="http://schemas.openxmlformats.org/drawingml/2006/main">
              <a:ext uri="{FF2B5EF4-FFF2-40B4-BE49-F238E27FC236}">
                <a16:creationId xmlns:a16="http://schemas.microsoft.com/office/drawing/2014/main" id="{9E5259CE-14D6-44E2-9C21-F5D9583D2A0E}"/>
              </a:ext>
            </a:extLst>
          </p:cNvPr>
          <p:cNvSpPr>
            <a:spLocks xmlns:a="http://schemas.openxmlformats.org/drawingml/2006/main" noGrp="1"/>
          </p:cNvSpPr>
          <p:nvPr/>
        </p:nvSpPr>
        <p:spPr>
          <a:xfrm xmlns:a="http://schemas.openxmlformats.org/drawingml/2006/main">
            <a:off x="723900" y="3810000"/>
            <a:ext cx="29718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Most unique features</a:t>
            </a:r>
          </a:p>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Broadest context coverage</a:t>
            </a:r>
          </a:p>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Lower median activation</a:t>
            </a:r>
          </a:p>
        </p:txBody>
      </p:sp>
      <p:sp>
        <p:nvSpPr>
          <p:cNvPr id="8" name="phase-panel-2">
            <a:extLst xmlns:a="http://schemas.openxmlformats.org/drawingml/2006/main">
              <a:ext uri="{FF2B5EF4-FFF2-40B4-BE49-F238E27FC236}">
                <a16:creationId xmlns:a16="http://schemas.microsoft.com/office/drawing/2014/main" id="{5ABA0EB5-9FCA-45E3-987C-9EBB3F298E0F}"/>
              </a:ext>
            </a:extLst>
          </p:cNvPr>
          <p:cNvSpPr>
            <a:spLocks xmlns:a="http://schemas.openxmlformats.org/drawingml/2006/main" noGrp="1"/>
          </p:cNvSpPr>
          <p:nvPr/>
        </p:nvSpPr>
        <p:spPr>
          <a:xfrm xmlns:a="http://schemas.openxmlformats.org/drawingml/2006/main">
            <a:off x="4305300" y="1390650"/>
            <a:ext cx="3581400" cy="4114800"/>
          </a:xfrm>
          <a:prstGeom xmlns:a="http://schemas.openxmlformats.org/drawingml/2006/main" prst="roundRect">
            <a:avLst>
              <a:gd name="adj" fmla="val 3191"/>
            </a:avLst>
          </a:prstGeom>
          <a:solidFill xmlns:a="http://schemas.openxmlformats.org/drawingml/2006/main">
            <a:srgbClr val="FFF2E3"/>
          </a:solidFill>
          <a:ln xmlns:a="http://schemas.openxmlformats.org/drawingml/2006/main" w="0">
            <a:noFill/>
            <a:prstDash val="solid"/>
          </a:ln>
        </p:spPr>
      </p:sp>
      <p:sp>
        <p:nvSpPr>
          <p:cNvPr id="9" name="phase-label-2">
            <a:extLst xmlns:a="http://schemas.openxmlformats.org/drawingml/2006/main">
              <a:ext uri="{FF2B5EF4-FFF2-40B4-BE49-F238E27FC236}">
                <a16:creationId xmlns:a16="http://schemas.microsoft.com/office/drawing/2014/main" id="{39B7CB37-57C3-4203-B862-4676E5A66FD1}"/>
              </a:ext>
            </a:extLst>
          </p:cNvPr>
          <p:cNvSpPr>
            <a:spLocks xmlns:a="http://schemas.openxmlformats.org/drawingml/2006/main" noGrp="1"/>
          </p:cNvSpPr>
          <p:nvPr/>
        </p:nvSpPr>
        <p:spPr>
          <a:xfrm xmlns:a="http://schemas.openxmlformats.org/drawingml/2006/main">
            <a:off x="4572000" y="16764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PHASE 2</a:t>
            </a:r>
          </a:p>
        </p:txBody>
      </p:sp>
      <p:sp>
        <p:nvSpPr>
          <p:cNvPr id="10" name="phase-layers-2">
            <a:extLst xmlns:a="http://schemas.openxmlformats.org/drawingml/2006/main">
              <a:ext uri="{FF2B5EF4-FFF2-40B4-BE49-F238E27FC236}">
                <a16:creationId xmlns:a16="http://schemas.microsoft.com/office/drawing/2014/main" id="{B68A4BA4-4276-4B5E-AB3D-2FFBEE635FCD}"/>
              </a:ext>
            </a:extLst>
          </p:cNvPr>
          <p:cNvSpPr>
            <a:spLocks xmlns:a="http://schemas.openxmlformats.org/drawingml/2006/main" noGrp="1"/>
          </p:cNvSpPr>
          <p:nvPr/>
        </p:nvSpPr>
        <p:spPr>
          <a:xfrm xmlns:a="http://schemas.openxmlformats.org/drawingml/2006/main">
            <a:off x="4572000" y="21145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1827"/>
                </a:solidFill>
                <a:latin typeface="Arial"/>
                <a:ea typeface="Arial"/>
                <a:cs typeface="Arial"/>
              </a:defRPr>
            </a:pPr>
            <a:r>
              <a:rPr sz="3300" b="1">
                <a:solidFill>
                  <a:srgbClr val="111827"/>
                </a:solidFill>
                <a:latin typeface="Arial"/>
                <a:ea typeface="Arial"/>
                <a:cs typeface="Arial"/>
              </a:rPr>
              <a:t>L7–L14</a:t>
            </a:r>
          </a:p>
        </p:txBody>
      </p:sp>
      <p:sp>
        <p:nvSpPr>
          <p:cNvPr id="11" name="phase-name-2">
            <a:extLst xmlns:a="http://schemas.openxmlformats.org/drawingml/2006/main">
              <a:ext uri="{FF2B5EF4-FFF2-40B4-BE49-F238E27FC236}">
                <a16:creationId xmlns:a16="http://schemas.microsoft.com/office/drawing/2014/main" id="{C6776739-7405-4042-A439-CC7028707F3A}"/>
              </a:ext>
            </a:extLst>
          </p:cNvPr>
          <p:cNvSpPr>
            <a:spLocks xmlns:a="http://schemas.openxmlformats.org/drawingml/2006/main" noGrp="1"/>
          </p:cNvSpPr>
          <p:nvPr/>
        </p:nvSpPr>
        <p:spPr>
          <a:xfrm xmlns:a="http://schemas.openxmlformats.org/drawingml/2006/main">
            <a:off x="4572000" y="295275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Selective transformation</a:t>
            </a:r>
          </a:p>
        </p:txBody>
      </p:sp>
      <p:sp>
        <p:nvSpPr>
          <p:cNvPr id="12" name="phase-body-2">
            <a:extLst xmlns:a="http://schemas.openxmlformats.org/drawingml/2006/main">
              <a:ext uri="{FF2B5EF4-FFF2-40B4-BE49-F238E27FC236}">
                <a16:creationId xmlns:a16="http://schemas.microsoft.com/office/drawing/2014/main" id="{0E053720-BA58-4369-9AA4-8C5EA6CAFC10}"/>
              </a:ext>
            </a:extLst>
          </p:cNvPr>
          <p:cNvSpPr>
            <a:spLocks xmlns:a="http://schemas.openxmlformats.org/drawingml/2006/main" noGrp="1"/>
          </p:cNvSpPr>
          <p:nvPr/>
        </p:nvSpPr>
        <p:spPr>
          <a:xfrm xmlns:a="http://schemas.openxmlformats.org/drawingml/2006/main">
            <a:off x="4572000" y="3810000"/>
            <a:ext cx="29718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Fewer, more selective features</a:t>
            </a:r>
          </a:p>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Highest median influence</a:t>
            </a:r>
          </a:p>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Intermediate activation</a:t>
            </a:r>
          </a:p>
        </p:txBody>
      </p:sp>
      <p:sp>
        <p:nvSpPr>
          <p:cNvPr id="13" name="phase-panel-3">
            <a:extLst xmlns:a="http://schemas.openxmlformats.org/drawingml/2006/main">
              <a:ext uri="{FF2B5EF4-FFF2-40B4-BE49-F238E27FC236}">
                <a16:creationId xmlns:a16="http://schemas.microsoft.com/office/drawing/2014/main" id="{F660741B-AF82-4924-B4E2-997D9A1C980F}"/>
              </a:ext>
            </a:extLst>
          </p:cNvPr>
          <p:cNvSpPr>
            <a:spLocks xmlns:a="http://schemas.openxmlformats.org/drawingml/2006/main" noGrp="1"/>
          </p:cNvSpPr>
          <p:nvPr/>
        </p:nvSpPr>
        <p:spPr>
          <a:xfrm xmlns:a="http://schemas.openxmlformats.org/drawingml/2006/main">
            <a:off x="8153400" y="1390650"/>
            <a:ext cx="3581400" cy="4114800"/>
          </a:xfrm>
          <a:prstGeom xmlns:a="http://schemas.openxmlformats.org/drawingml/2006/main" prst="roundRect">
            <a:avLst>
              <a:gd name="adj" fmla="val 3191"/>
            </a:avLst>
          </a:prstGeom>
          <a:solidFill xmlns:a="http://schemas.openxmlformats.org/drawingml/2006/main">
            <a:srgbClr val="E8F7F1"/>
          </a:solidFill>
          <a:ln xmlns:a="http://schemas.openxmlformats.org/drawingml/2006/main" w="0">
            <a:noFill/>
            <a:prstDash val="solid"/>
          </a:ln>
        </p:spPr>
      </p:sp>
      <p:sp>
        <p:nvSpPr>
          <p:cNvPr id="14" name="phase-label-3">
            <a:extLst xmlns:a="http://schemas.openxmlformats.org/drawingml/2006/main">
              <a:ext uri="{FF2B5EF4-FFF2-40B4-BE49-F238E27FC236}">
                <a16:creationId xmlns:a16="http://schemas.microsoft.com/office/drawing/2014/main" id="{10DF38D9-B432-4650-AEA4-74E504A527A5}"/>
              </a:ext>
            </a:extLst>
          </p:cNvPr>
          <p:cNvSpPr>
            <a:spLocks xmlns:a="http://schemas.openxmlformats.org/drawingml/2006/main" noGrp="1"/>
          </p:cNvSpPr>
          <p:nvPr/>
        </p:nvSpPr>
        <p:spPr>
          <a:xfrm xmlns:a="http://schemas.openxmlformats.org/drawingml/2006/main">
            <a:off x="8420100" y="16764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2563EB"/>
                </a:solidFill>
                <a:latin typeface="Arial"/>
                <a:ea typeface="Arial"/>
                <a:cs typeface="Arial"/>
              </a:defRPr>
            </a:pPr>
            <a:r>
              <a:rPr sz="1275" b="1">
                <a:solidFill>
                  <a:srgbClr val="2563EB"/>
                </a:solidFill>
                <a:latin typeface="Arial"/>
                <a:ea typeface="Arial"/>
                <a:cs typeface="Arial"/>
              </a:rPr>
              <a:t>PHASE 3</a:t>
            </a:r>
          </a:p>
        </p:txBody>
      </p:sp>
      <p:sp>
        <p:nvSpPr>
          <p:cNvPr id="15" name="phase-layers-3">
            <a:extLst xmlns:a="http://schemas.openxmlformats.org/drawingml/2006/main">
              <a:ext uri="{FF2B5EF4-FFF2-40B4-BE49-F238E27FC236}">
                <a16:creationId xmlns:a16="http://schemas.microsoft.com/office/drawing/2014/main" id="{F8DF7155-BBBB-4AE1-B8D0-5DB078C43323}"/>
              </a:ext>
            </a:extLst>
          </p:cNvPr>
          <p:cNvSpPr>
            <a:spLocks xmlns:a="http://schemas.openxmlformats.org/drawingml/2006/main" noGrp="1"/>
          </p:cNvSpPr>
          <p:nvPr/>
        </p:nvSpPr>
        <p:spPr>
          <a:xfrm xmlns:a="http://schemas.openxmlformats.org/drawingml/2006/main">
            <a:off x="8420100" y="211455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11827"/>
                </a:solidFill>
                <a:latin typeface="Arial"/>
                <a:ea typeface="Arial"/>
                <a:cs typeface="Arial"/>
              </a:defRPr>
            </a:pPr>
            <a:r>
              <a:rPr sz="3300" b="1">
                <a:solidFill>
                  <a:srgbClr val="111827"/>
                </a:solidFill>
                <a:latin typeface="Arial"/>
                <a:ea typeface="Arial"/>
                <a:cs typeface="Arial"/>
              </a:rPr>
              <a:t>L15–L25</a:t>
            </a:r>
          </a:p>
        </p:txBody>
      </p:sp>
      <p:sp>
        <p:nvSpPr>
          <p:cNvPr id="16" name="phase-name-3">
            <a:extLst xmlns:a="http://schemas.openxmlformats.org/drawingml/2006/main">
              <a:ext uri="{FF2B5EF4-FFF2-40B4-BE49-F238E27FC236}">
                <a16:creationId xmlns:a16="http://schemas.microsoft.com/office/drawing/2014/main" id="{5C845887-9D85-481D-956D-EAED2D964DF5}"/>
              </a:ext>
            </a:extLst>
          </p:cNvPr>
          <p:cNvSpPr>
            <a:spLocks xmlns:a="http://schemas.openxmlformats.org/drawingml/2006/main" noGrp="1"/>
          </p:cNvSpPr>
          <p:nvPr/>
        </p:nvSpPr>
        <p:spPr>
          <a:xfrm xmlns:a="http://schemas.openxmlformats.org/drawingml/2006/main">
            <a:off x="8420100" y="2952750"/>
            <a:ext cx="295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Output consolidation</a:t>
            </a:r>
          </a:p>
        </p:txBody>
      </p:sp>
      <p:sp>
        <p:nvSpPr>
          <p:cNvPr id="17" name="phase-body-3">
            <a:extLst xmlns:a="http://schemas.openxmlformats.org/drawingml/2006/main">
              <a:ext uri="{FF2B5EF4-FFF2-40B4-BE49-F238E27FC236}">
                <a16:creationId xmlns:a16="http://schemas.microsoft.com/office/drawing/2014/main" id="{36222519-E6FD-438B-B40C-275AB5508AB9}"/>
              </a:ext>
            </a:extLst>
          </p:cNvPr>
          <p:cNvSpPr>
            <a:spLocks xmlns:a="http://schemas.openxmlformats.org/drawingml/2006/main" noGrp="1"/>
          </p:cNvSpPr>
          <p:nvPr/>
        </p:nvSpPr>
        <p:spPr>
          <a:xfrm xmlns:a="http://schemas.openxmlformats.org/drawingml/2006/main">
            <a:off x="8420100" y="3810000"/>
            <a:ext cx="29718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Sparse feature population</a:t>
            </a:r>
          </a:p>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Highest median activation</a:t>
            </a:r>
          </a:p>
          <a:p xmlns:a="http://schemas.openxmlformats.org/drawingml/2006/main">
            <a:pPr algn="l">
              <a:defRPr sz="1425" b="0">
                <a:solidFill>
                  <a:srgbClr val="526079"/>
                </a:solidFill>
                <a:latin typeface="Arial"/>
                <a:ea typeface="Arial"/>
                <a:cs typeface="Arial"/>
              </a:defRPr>
            </a:pPr>
            <a:r>
              <a:rPr sz="1425" b="0">
                <a:solidFill>
                  <a:srgbClr val="526079"/>
                </a:solidFill>
                <a:latin typeface="Arial"/>
                <a:ea typeface="Arial"/>
                <a:cs typeface="Arial"/>
              </a:rPr>
              <a:t>Lower average influence</a:t>
            </a:r>
          </a:p>
        </p:txBody>
      </p:sp>
      <p:sp>
        <p:nvSpPr>
          <p:cNvPr id="18" name="phase-caveat">
            <a:extLst xmlns:a="http://schemas.openxmlformats.org/drawingml/2006/main">
              <a:ext uri="{FF2B5EF4-FFF2-40B4-BE49-F238E27FC236}">
                <a16:creationId xmlns:a16="http://schemas.microsoft.com/office/drawing/2014/main" id="{AD892C66-48D0-4734-9F32-25B54E7F26D7}"/>
              </a:ext>
            </a:extLst>
          </p:cNvPr>
          <p:cNvSpPr>
            <a:spLocks xmlns:a="http://schemas.openxmlformats.org/drawingml/2006/main" noGrp="1"/>
          </p:cNvSpPr>
          <p:nvPr/>
        </p:nvSpPr>
        <p:spPr>
          <a:xfrm xmlns:a="http://schemas.openxmlformats.org/drawingml/2006/main">
            <a:off x="1181100" y="5867400"/>
            <a:ext cx="982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defRPr sz="1425" b="0">
                <a:solidFill>
                  <a:srgbClr val="526079"/>
                </a:solidFill>
                <a:latin typeface="Arial"/>
                <a:ea typeface="Arial"/>
                <a:cs typeface="Arial"/>
              </a:defRPr>
            </a:pPr>
            <a:r>
              <a:rPr sz="1425" b="0">
                <a:solidFill>
                  <a:srgbClr val="526079"/>
                </a:solidFill>
                <a:latin typeface="Arial"/>
                <a:ea typeface="Arial"/>
                <a:cs typeface="Arial"/>
              </a:rPr>
              <a:t>Working functional descriptions; blinded semantic annotation is the next validation step.</a:t>
            </a:r>
          </a:p>
        </p:txBody>
      </p:sp>
    </p:spTree>
    <p:extLst>
      <p:ext uri="{BB962C8B-B14F-4D97-AF65-F5344CB8AC3E}">
        <p14:creationId xmlns:p14="http://schemas.microsoft.com/office/powerpoint/2010/main" val="180683863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bootstrap-figure-backing">
            <a:extLst xmlns:a="http://schemas.openxmlformats.org/drawingml/2006/main">
              <a:ext uri="{FF2B5EF4-FFF2-40B4-BE49-F238E27FC236}">
                <a16:creationId xmlns:a16="http://schemas.microsoft.com/office/drawing/2014/main" id="{2A3CAF92-BC70-4537-9569-EC2E78C7E651}"/>
              </a:ext>
            </a:extLst>
          </p:cNvPr>
          <p:cNvSpPr>
            <a:spLocks xmlns:a="http://schemas.openxmlformats.org/drawingml/2006/main" noGrp="1"/>
          </p:cNvSpPr>
          <p:nvPr/>
        </p:nvSpPr>
        <p:spPr>
          <a:xfrm xmlns:a="http://schemas.openxmlformats.org/drawingml/2006/main">
            <a:off x="266700" y="266700"/>
            <a:ext cx="11658600" cy="5962650"/>
          </a:xfrm>
          <a:prstGeom xmlns:a="http://schemas.openxmlformats.org/drawingml/2006/main" prst="roundRect">
            <a:avLst>
              <a:gd name="adj" fmla="val 1917"/>
            </a:avLst>
          </a:prstGeom>
          <a:solidFill xmlns:a="http://schemas.openxmlformats.org/drawingml/2006/main">
            <a:srgbClr val="FFFFFF"/>
          </a:solidFill>
          <a:ln xmlns:a="http://schemas.openxmlformats.org/drawingml/2006/main" w="9525">
            <a:solidFill>
              <a:srgbClr val="D8DDE6"/>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e29239f00bc477b"/>
          <a:stretch xmlns:a="http://schemas.openxmlformats.org/drawingml/2006/main"/>
        </p:blipFill>
        <p:spPr>
          <a:xfrm xmlns:a="http://schemas.openxmlformats.org/drawingml/2006/main">
            <a:off x="725709" y="266700"/>
            <a:ext cx="10740581" cy="5962650"/>
          </a:xfrm>
          <a:prstGeom xmlns:a="http://schemas.openxmlformats.org/drawingml/2006/main" prst="roundRect">
            <a:avLst>
              <a:gd name="adj" fmla="val 1917"/>
            </a:avLst>
          </a:prstGeom>
        </p:spPr>
      </p:pic>
      <p:sp>
        <p:nvSpPr>
          <p:cNvPr id="3" name="source">
            <a:extLst xmlns:a="http://schemas.openxmlformats.org/drawingml/2006/main">
              <a:ext uri="{FF2B5EF4-FFF2-40B4-BE49-F238E27FC236}">
                <a16:creationId xmlns:a16="http://schemas.microsoft.com/office/drawing/2014/main" id="{92729360-FAA8-4D05-9C99-416FDD1405D0}"/>
              </a:ext>
            </a:extLst>
          </p:cNvPr>
          <p:cNvSpPr>
            <a:spLocks xmlns:a="http://schemas.openxmlformats.org/drawingml/2006/main" noGrp="1"/>
          </p:cNvSpPr>
          <p:nvPr/>
        </p:nvSpPr>
        <p:spPr>
          <a:xfrm xmlns:a="http://schemas.openxmlformats.org/drawingml/2006/main">
            <a:off x="457200" y="63436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0">
                <a:solidFill>
                  <a:srgbClr val="526079"/>
                </a:solidFill>
                <a:latin typeface="Arial"/>
                <a:ea typeface="Arial"/>
                <a:cs typeface="Arial"/>
              </a:defRPr>
            </a:pPr>
            <a:r>
              <a:rPr sz="975" b="0">
                <a:solidFill>
                  <a:srgbClr val="526079"/>
                </a:solidFill>
                <a:latin typeface="Arial"/>
                <a:ea typeface="Arial"/>
                <a:cs typeface="Arial"/>
              </a:rPr>
              <a:t>Source: 1,000 prompt-bootstrap reruns of the fixed three-segment model</a:t>
            </a:r>
          </a:p>
        </p:txBody>
      </p:sp>
      <p:sp>
        <p:nvSpPr>
          <p:cNvPr id="4" name="slide-6-number">
            <a:extLst xmlns:a="http://schemas.openxmlformats.org/drawingml/2006/main">
              <a:ext uri="{FF2B5EF4-FFF2-40B4-BE49-F238E27FC236}">
                <a16:creationId xmlns:a16="http://schemas.microsoft.com/office/drawing/2014/main" id="{F98AE1E4-AE27-41FD-A239-417A5066D23A}"/>
              </a:ext>
            </a:extLst>
          </p:cNvPr>
          <p:cNvSpPr>
            <a:spLocks xmlns:a="http://schemas.openxmlformats.org/drawingml/2006/main" noGrp="1"/>
          </p:cNvSpPr>
          <p:nvPr/>
        </p:nvSpPr>
        <p:spPr>
          <a:xfrm xmlns:a="http://schemas.openxmlformats.org/drawingml/2006/main">
            <a:off x="11372850" y="63436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26079"/>
                </a:solidFill>
                <a:latin typeface="Arial"/>
                <a:ea typeface="Arial"/>
                <a:cs typeface="Arial"/>
              </a:defRPr>
            </a:pPr>
            <a:r>
              <a:rPr sz="1050" b="0">
                <a:solidFill>
                  <a:srgbClr val="526079"/>
                </a:solidFill>
                <a:latin typeface="Arial"/>
                <a:ea typeface="Arial"/>
                <a:cs typeface="Arial"/>
              </a:rPr>
              <a:t>6</a:t>
            </a:r>
          </a:p>
        </p:txBody>
      </p:sp>
    </p:spTree>
    <p:extLst>
      <p:ext uri="{BB962C8B-B14F-4D97-AF65-F5344CB8AC3E}">
        <p14:creationId xmlns:p14="http://schemas.microsoft.com/office/powerpoint/2010/main" val="841325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losing-eyebrow">
            <a:extLst xmlns:a="http://schemas.openxmlformats.org/drawingml/2006/main">
              <a:ext uri="{FF2B5EF4-FFF2-40B4-BE49-F238E27FC236}">
                <a16:creationId xmlns:a16="http://schemas.microsoft.com/office/drawing/2014/main" id="{7582EB31-58A8-43D7-8E21-FDDF17F1E939}"/>
              </a:ext>
            </a:extLst>
          </p:cNvPr>
          <p:cNvSpPr>
            <a:spLocks xmlns:a="http://schemas.openxmlformats.org/drawingml/2006/main" noGrp="1"/>
          </p:cNvSpPr>
          <p:nvPr/>
        </p:nvSpPr>
        <p:spPr>
          <a:xfrm xmlns:a="http://schemas.openxmlformats.org/drawingml/2006/main">
            <a:off x="457200" y="4000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2563EB"/>
                </a:solidFill>
                <a:latin typeface="Arial"/>
                <a:ea typeface="Arial"/>
                <a:cs typeface="Arial"/>
              </a:defRPr>
            </a:pPr>
            <a:r>
              <a:rPr sz="1500" b="1">
                <a:solidFill>
                  <a:srgbClr val="2563EB"/>
                </a:solidFill>
                <a:latin typeface="Arial"/>
                <a:ea typeface="Arial"/>
                <a:cs typeface="Arial"/>
              </a:rPr>
              <a:t>SUPPORTED CONCLUSION</a:t>
            </a:r>
          </a:p>
        </p:txBody>
      </p:sp>
      <p:sp>
        <p:nvSpPr>
          <p:cNvPr id="2" name="closing-title">
            <a:extLst xmlns:a="http://schemas.openxmlformats.org/drawingml/2006/main">
              <a:ext uri="{FF2B5EF4-FFF2-40B4-BE49-F238E27FC236}">
                <a16:creationId xmlns:a16="http://schemas.microsoft.com/office/drawing/2014/main" id="{0A266D6A-F2E4-4749-B064-0D39410DE57B}"/>
              </a:ext>
            </a:extLst>
          </p:cNvPr>
          <p:cNvSpPr>
            <a:spLocks xmlns:a="http://schemas.openxmlformats.org/drawingml/2006/main" noGrp="1"/>
          </p:cNvSpPr>
          <p:nvPr/>
        </p:nvSpPr>
        <p:spPr>
          <a:xfrm xmlns:a="http://schemas.openxmlformats.org/drawingml/2006/main">
            <a:off x="457200" y="1390650"/>
            <a:ext cx="6572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defRPr sz="4950" b="1">
                <a:solidFill>
                  <a:srgbClr val="111827"/>
                </a:solidFill>
                <a:latin typeface="Arial"/>
                <a:ea typeface="Arial"/>
                <a:cs typeface="Arial"/>
              </a:defRPr>
            </a:pPr>
            <a:r>
              <a:rPr sz="4950" b="1">
                <a:solidFill>
                  <a:srgbClr val="111827"/>
                </a:solidFill>
                <a:latin typeface="Arial"/>
                <a:ea typeface="Arial"/>
                <a:cs typeface="Arial"/>
              </a:rPr>
              <a:t>The signal survives the correction</a:t>
            </a:r>
          </a:p>
        </p:txBody>
      </p:sp>
      <p:sp>
        <p:nvSpPr>
          <p:cNvPr id="3" name="closing-evidence">
            <a:extLst xmlns:a="http://schemas.openxmlformats.org/drawingml/2006/main">
              <a:ext uri="{FF2B5EF4-FFF2-40B4-BE49-F238E27FC236}">
                <a16:creationId xmlns:a16="http://schemas.microsoft.com/office/drawing/2014/main" id="{76462715-BBA4-43C5-AB07-598E661AD95F}"/>
              </a:ext>
            </a:extLst>
          </p:cNvPr>
          <p:cNvSpPr>
            <a:spLocks xmlns:a="http://schemas.openxmlformats.org/drawingml/2006/main" noGrp="1"/>
          </p:cNvSpPr>
          <p:nvPr/>
        </p:nvSpPr>
        <p:spPr>
          <a:xfrm xmlns:a="http://schemas.openxmlformats.org/drawingml/2006/main">
            <a:off x="7658100" y="1466850"/>
            <a:ext cx="37719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119 shared all-five features</a:t>
            </a:r>
          </a:p>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All 5 headline features retained</a:t>
            </a:r>
          </a:p>
          <a:p xmlns:a="http://schemas.openxmlformats.org/drawingml/2006/main">
            <a:pPr algn="l">
              <a:defRPr sz="1875" b="1">
                <a:solidFill>
                  <a:srgbClr val="111827"/>
                </a:solidFill>
                <a:latin typeface="Arial"/>
                <a:ea typeface="Arial"/>
                <a:cs typeface="Arial"/>
              </a:defRPr>
            </a:pPr>
            <a:r>
              <a:rPr sz="1875" b="1">
                <a:solidFill>
                  <a:srgbClr val="111827"/>
                </a:solidFill>
                <a:latin typeface="Arial"/>
                <a:ea typeface="Arial"/>
                <a:cs typeface="Arial"/>
              </a:rPr>
              <a:t>3 phases selected by BIC</a:t>
            </a:r>
          </a:p>
        </p:txBody>
      </p:sp>
      <p:sp>
        <p:nvSpPr>
          <p:cNvPr id="4" name="closing-rule">
            <a:extLst xmlns:a="http://schemas.openxmlformats.org/drawingml/2006/main">
              <a:ext uri="{FF2B5EF4-FFF2-40B4-BE49-F238E27FC236}">
                <a16:creationId xmlns:a16="http://schemas.microsoft.com/office/drawing/2014/main" id="{C217C255-5452-4148-8CBA-762A1F2B0CD7}"/>
              </a:ext>
            </a:extLst>
          </p:cNvPr>
          <p:cNvSpPr>
            <a:spLocks xmlns:a="http://schemas.openxmlformats.org/drawingml/2006/main" noGrp="1"/>
          </p:cNvSpPr>
          <p:nvPr/>
        </p:nvSpPr>
        <p:spPr>
          <a:xfrm xmlns:a="http://schemas.openxmlformats.org/drawingml/2006/main">
            <a:off x="457200" y="3695700"/>
            <a:ext cx="10972800" cy="19050"/>
          </a:xfrm>
          <a:prstGeom xmlns:a="http://schemas.openxmlformats.org/drawingml/2006/main" prst="rect">
            <a:avLst/>
          </a:prstGeom>
          <a:solidFill xmlns:a="http://schemas.openxmlformats.org/drawingml/2006/main">
            <a:srgbClr val="D8DDE6"/>
          </a:solidFill>
          <a:ln xmlns:a="http://schemas.openxmlformats.org/drawingml/2006/main" w="0">
            <a:noFill/>
            <a:prstDash val="solid"/>
          </a:ln>
        </p:spPr>
      </p:sp>
      <p:sp>
        <p:nvSpPr>
          <p:cNvPr id="5" name="next-step-label">
            <a:extLst xmlns:a="http://schemas.openxmlformats.org/drawingml/2006/main">
              <a:ext uri="{FF2B5EF4-FFF2-40B4-BE49-F238E27FC236}">
                <a16:creationId xmlns:a16="http://schemas.microsoft.com/office/drawing/2014/main" id="{16B443B5-FDA7-4203-976C-60EC23C9A8CB}"/>
              </a:ext>
            </a:extLst>
          </p:cNvPr>
          <p:cNvSpPr>
            <a:spLocks xmlns:a="http://schemas.openxmlformats.org/drawingml/2006/main" noGrp="1"/>
          </p:cNvSpPr>
          <p:nvPr/>
        </p:nvSpPr>
        <p:spPr>
          <a:xfrm xmlns:a="http://schemas.openxmlformats.org/drawingml/2006/main">
            <a:off x="457200" y="4133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2563EB"/>
                </a:solidFill>
                <a:latin typeface="Arial"/>
                <a:ea typeface="Arial"/>
                <a:cs typeface="Arial"/>
              </a:defRPr>
            </a:pPr>
            <a:r>
              <a:rPr sz="1425" b="1">
                <a:solidFill>
                  <a:srgbClr val="2563EB"/>
                </a:solidFill>
                <a:latin typeface="Arial"/>
                <a:ea typeface="Arial"/>
                <a:cs typeface="Arial"/>
              </a:rPr>
              <a:t>NEXT VALIDATION STEPS</a:t>
            </a:r>
          </a:p>
        </p:txBody>
      </p:sp>
      <p:sp>
        <p:nvSpPr>
          <p:cNvPr id="6" name="next-steps">
            <a:extLst xmlns:a="http://schemas.openxmlformats.org/drawingml/2006/main">
              <a:ext uri="{FF2B5EF4-FFF2-40B4-BE49-F238E27FC236}">
                <a16:creationId xmlns:a16="http://schemas.microsoft.com/office/drawing/2014/main" id="{81E640F1-DEFB-4C8A-B533-ACFF3AC1EF76}"/>
              </a:ext>
            </a:extLst>
          </p:cNvPr>
          <p:cNvSpPr>
            <a:spLocks xmlns:a="http://schemas.openxmlformats.org/drawingml/2006/main" noGrp="1"/>
          </p:cNvSpPr>
          <p:nvPr/>
        </p:nvSpPr>
        <p:spPr>
          <a:xfrm xmlns:a="http://schemas.openxmlformats.org/drawingml/2006/main">
            <a:off x="457200" y="470535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11827"/>
                </a:solidFill>
                <a:latin typeface="Arial"/>
                <a:ea typeface="Arial"/>
                <a:cs typeface="Arial"/>
              </a:defRPr>
            </a:pPr>
            <a:r>
              <a:rPr sz="2025" b="0">
                <a:solidFill>
                  <a:srgbClr val="111827"/>
                </a:solidFill>
                <a:latin typeface="Arial"/>
                <a:ea typeface="Arial"/>
                <a:cs typeface="Arial"/>
              </a:rPr>
              <a:t>Expand held-out prompts  •  Blind semantic annotation  •  Matched causal interventions</a:t>
            </a:r>
          </a:p>
        </p:txBody>
      </p:sp>
      <p:sp>
        <p:nvSpPr>
          <p:cNvPr id="7" name="closing-limit">
            <a:extLst xmlns:a="http://schemas.openxmlformats.org/drawingml/2006/main">
              <a:ext uri="{FF2B5EF4-FFF2-40B4-BE49-F238E27FC236}">
                <a16:creationId xmlns:a16="http://schemas.microsoft.com/office/drawing/2014/main" id="{98172910-2800-44F3-9E28-6EBB02AD82A6}"/>
              </a:ext>
            </a:extLst>
          </p:cNvPr>
          <p:cNvSpPr>
            <a:spLocks xmlns:a="http://schemas.openxmlformats.org/drawingml/2006/main" noGrp="1"/>
          </p:cNvSpPr>
          <p:nvPr/>
        </p:nvSpPr>
        <p:spPr>
          <a:xfrm xmlns:a="http://schemas.openxmlformats.org/drawingml/2006/main">
            <a:off x="457200" y="588645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rial"/>
                <a:ea typeface="Arial"/>
                <a:cs typeface="Arial"/>
              </a:defRPr>
            </a:pPr>
            <a:r>
              <a:rPr sz="1350" b="0">
                <a:solidFill>
                  <a:srgbClr val="526079"/>
                </a:solidFill>
                <a:latin typeface="Arial"/>
                <a:ea typeface="Arial"/>
                <a:cs typeface="Arial"/>
              </a:rPr>
              <a:t>Current result: a defensible three-regime summary; causal hierarchy remains to be tested.</a:t>
            </a:r>
          </a:p>
        </p:txBody>
      </p:sp>
      <p:sp>
        <p:nvSpPr>
          <p:cNvPr id="8" name="slide-7-number">
            <a:extLst xmlns:a="http://schemas.openxmlformats.org/drawingml/2006/main">
              <a:ext uri="{FF2B5EF4-FFF2-40B4-BE49-F238E27FC236}">
                <a16:creationId xmlns:a16="http://schemas.microsoft.com/office/drawing/2014/main" id="{43FAF311-2982-4D67-9BDA-12B74D9A6C90}"/>
              </a:ext>
            </a:extLst>
          </p:cNvPr>
          <p:cNvSpPr>
            <a:spLocks xmlns:a="http://schemas.openxmlformats.org/drawingml/2006/main" noGrp="1"/>
          </p:cNvSpPr>
          <p:nvPr/>
        </p:nvSpPr>
        <p:spPr>
          <a:xfrm xmlns:a="http://schemas.openxmlformats.org/drawingml/2006/main">
            <a:off x="11372850" y="634365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26079"/>
                </a:solidFill>
                <a:latin typeface="Arial"/>
                <a:ea typeface="Arial"/>
                <a:cs typeface="Arial"/>
              </a:defRPr>
            </a:pPr>
            <a:r>
              <a:rPr sz="1050" b="0">
                <a:solidFill>
                  <a:srgbClr val="526079"/>
                </a:solidFill>
                <a:latin typeface="Arial"/>
                <a:ea typeface="Arial"/>
                <a:cs typeface="Arial"/>
              </a:rPr>
              <a:t>7</a:t>
            </a:r>
          </a:p>
        </p:txBody>
      </p:sp>
    </p:spTree>
    <p:extLst>
      <p:ext uri="{BB962C8B-B14F-4D97-AF65-F5344CB8AC3E}">
        <p14:creationId xmlns:p14="http://schemas.microsoft.com/office/powerpoint/2010/main" val="1628435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2026-07-19T14:40:22.5980000Z</dcterms:created>
  <dcterms:modified xsi:type="dcterms:W3CDTF">2026-07-19T14:40:22.5990000Z</dcterms:modified>
</coreProperties>
</file>